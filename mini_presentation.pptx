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302" r:id="rId5"/>
    <p:sldId id="301" r:id="rId6"/>
    <p:sldId id="259" r:id="rId7"/>
    <p:sldId id="262" r:id="rId8"/>
    <p:sldId id="260" r:id="rId9"/>
    <p:sldId id="261" r:id="rId10"/>
    <p:sldId id="303" r:id="rId11"/>
    <p:sldId id="263" r:id="rId12"/>
    <p:sldId id="265" r:id="rId13"/>
    <p:sldId id="264" r:id="rId14"/>
    <p:sldId id="304" r:id="rId15"/>
    <p:sldId id="305" r:id="rId16"/>
    <p:sldId id="306" r:id="rId17"/>
    <p:sldId id="309" r:id="rId18"/>
    <p:sldId id="307" r:id="rId19"/>
    <p:sldId id="308" r:id="rId20"/>
    <p:sldId id="26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535" autoAdjust="0"/>
  </p:normalViewPr>
  <p:slideViewPr>
    <p:cSldViewPr snapToGrid="0">
      <p:cViewPr varScale="1">
        <p:scale>
          <a:sx n="70" d="100"/>
          <a:sy n="70" d="100"/>
        </p:scale>
        <p:origin x="1166"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ha A" userId="51c23ec58f697ff9" providerId="LiveId" clId="{BA62CBD4-58F9-4DE6-BC6A-59FF4F7A850A}"/>
    <pc:docChg chg="modSld">
      <pc:chgData name="Harshitha A" userId="51c23ec58f697ff9" providerId="LiveId" clId="{BA62CBD4-58F9-4DE6-BC6A-59FF4F7A850A}" dt="2026-07-07T06:00:52.675" v="4" actId="1038"/>
      <pc:docMkLst>
        <pc:docMk/>
      </pc:docMkLst>
      <pc:sldChg chg="modSp mod">
        <pc:chgData name="Harshitha A" userId="51c23ec58f697ff9" providerId="LiveId" clId="{BA62CBD4-58F9-4DE6-BC6A-59FF4F7A850A}" dt="2026-07-07T06:00:52.675" v="4" actId="1038"/>
        <pc:sldMkLst>
          <pc:docMk/>
          <pc:sldMk cId="3018037839" sldId="261"/>
        </pc:sldMkLst>
        <pc:picChg chg="mod">
          <ac:chgData name="Harshitha A" userId="51c23ec58f697ff9" providerId="LiveId" clId="{BA62CBD4-58F9-4DE6-BC6A-59FF4F7A850A}" dt="2026-07-07T06:00:52.675" v="4" actId="1038"/>
          <ac:picMkLst>
            <pc:docMk/>
            <pc:sldMk cId="3018037839" sldId="261"/>
            <ac:picMk id="9" creationId="{BFA5185F-80A0-C176-EA2D-B8AECBC2643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D86660-ED40-4691-B4A9-C23D34B0A96E}" type="datetimeFigureOut">
              <a:rPr lang="en-IN" smtClean="0"/>
              <a:t>07-07-2026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58843C-B795-4081-B306-932B4C399597}" type="slidenum">
              <a:rPr lang="en-IN" smtClean="0"/>
              <a:t>‹#›</a:t>
            </a:fld>
            <a:endParaRPr lang="en-IN"/>
          </a:p>
        </p:txBody>
      </p:sp>
    </p:spTree>
    <p:extLst>
      <p:ext uri="{BB962C8B-B14F-4D97-AF65-F5344CB8AC3E}">
        <p14:creationId xmlns:p14="http://schemas.microsoft.com/office/powerpoint/2010/main" val="2478143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nputs</a:t>
            </a:r>
            <a:r>
              <a:rPr lang="en-US" b="1" dirty="0"/>
              <a:t>:</a:t>
            </a:r>
          </a:p>
          <a:p>
            <a:r>
              <a:rPr lang="en-US" b="1" dirty="0"/>
              <a:t>A[15:0]</a:t>
            </a:r>
            <a:r>
              <a:rPr lang="en-US" dirty="0"/>
              <a:t> → First 16-bit operand </a:t>
            </a:r>
          </a:p>
          <a:p>
            <a:r>
              <a:rPr lang="en-US" b="1" dirty="0"/>
              <a:t>B[15:0]</a:t>
            </a:r>
            <a:r>
              <a:rPr lang="en-US" dirty="0"/>
              <a:t> → Second 16-bit operand </a:t>
            </a:r>
          </a:p>
          <a:p>
            <a:r>
              <a:rPr lang="en-US" b="1" dirty="0"/>
              <a:t>SEL[3:0]</a:t>
            </a:r>
            <a:r>
              <a:rPr lang="en-US" dirty="0"/>
              <a:t> → 4-bit select line choosing the ALU operation </a:t>
            </a:r>
          </a:p>
          <a:p>
            <a:r>
              <a:rPr lang="en-US" dirty="0"/>
              <a:t>The select lines determine which operation the ALU performs.</a:t>
            </a:r>
          </a:p>
          <a:p>
            <a:endParaRPr lang="en-IN" dirty="0"/>
          </a:p>
          <a:p>
            <a:r>
              <a:rPr lang="en-IN" dirty="0"/>
              <a:t>Stage 1 </a:t>
            </a:r>
            <a:r>
              <a:rPr lang="en-US" b="1" dirty="0"/>
              <a:t>Decode Logic</a:t>
            </a:r>
          </a:p>
          <a:p>
            <a:r>
              <a:rPr lang="en-US" dirty="0"/>
              <a:t>The select signal </a:t>
            </a:r>
            <a:r>
              <a:rPr lang="en-US" sz="1200" kern="1200" dirty="0">
                <a:solidFill>
                  <a:schemeClr val="tx1"/>
                </a:solidFill>
                <a:latin typeface="+mn-lt"/>
                <a:ea typeface="+mn-ea"/>
                <a:cs typeface="+mn-cs"/>
              </a:rPr>
              <a:t>SEL[3:0]</a:t>
            </a:r>
            <a:r>
              <a:rPr lang="en-US" dirty="0"/>
              <a:t> is decoded to identify the required ALU operation</a:t>
            </a:r>
          </a:p>
          <a:p>
            <a:endParaRPr lang="en-IN" dirty="0"/>
          </a:p>
          <a:p>
            <a:r>
              <a:rPr lang="en-US" b="1" dirty="0"/>
              <a:t>(b) Registration</a:t>
            </a:r>
          </a:p>
          <a:p>
            <a:r>
              <a:rPr lang="en-US" dirty="0"/>
              <a:t>The inputs are stored in registers.</a:t>
            </a:r>
          </a:p>
          <a:p>
            <a:r>
              <a:rPr lang="en-US" dirty="0"/>
              <a:t>This means:</a:t>
            </a:r>
          </a:p>
          <a:p>
            <a:r>
              <a:rPr lang="en-US" dirty="0"/>
              <a:t>A and B are synchronized with the clock </a:t>
            </a:r>
          </a:p>
          <a:p>
            <a:r>
              <a:rPr lang="en-US" dirty="0"/>
              <a:t>Temporary storage is created </a:t>
            </a:r>
          </a:p>
          <a:p>
            <a:r>
              <a:rPr lang="en-US" dirty="0"/>
              <a:t>Signal glitches are reduced </a:t>
            </a:r>
          </a:p>
          <a:p>
            <a:r>
              <a:rPr lang="en-US" dirty="0"/>
              <a:t>Timing becomes stable</a:t>
            </a:r>
          </a:p>
          <a:p>
            <a:endParaRPr lang="en-IN" dirty="0"/>
          </a:p>
          <a:p>
            <a:r>
              <a:rPr lang="en-US" b="1" dirty="0"/>
              <a:t>Pipeline Registers (Synchronization Shield)</a:t>
            </a:r>
          </a:p>
          <a:p>
            <a:r>
              <a:rPr lang="en-US" dirty="0"/>
              <a:t>This section separates Stage 1 and Stage 2.</a:t>
            </a:r>
          </a:p>
          <a:p>
            <a:r>
              <a:rPr lang="en-US" dirty="0"/>
              <a:t>It acts as the boundary between the two pipeline stages.</a:t>
            </a:r>
          </a:p>
          <a:p>
            <a:endParaRPr lang="en-IN" dirty="0"/>
          </a:p>
          <a:p>
            <a:r>
              <a:rPr lang="en-US" b="1" dirty="0"/>
              <a:t>Data Synchronization</a:t>
            </a:r>
          </a:p>
          <a:p>
            <a:r>
              <a:rPr lang="en-US" dirty="0"/>
              <a:t>Ensures:</a:t>
            </a:r>
          </a:p>
          <a:p>
            <a:r>
              <a:rPr lang="en-US" dirty="0"/>
              <a:t>Stable data transfer </a:t>
            </a:r>
          </a:p>
          <a:p>
            <a:r>
              <a:rPr lang="en-US" dirty="0"/>
              <a:t>No race conditions </a:t>
            </a:r>
          </a:p>
          <a:p>
            <a:r>
              <a:rPr lang="en-US" dirty="0"/>
              <a:t>No combinational glitches</a:t>
            </a:r>
          </a:p>
          <a:p>
            <a:endParaRPr lang="en-IN" dirty="0"/>
          </a:p>
          <a:p>
            <a:r>
              <a:rPr lang="en-US" b="1" dirty="0"/>
              <a:t>Stable SEL_s1[3:0]</a:t>
            </a:r>
          </a:p>
          <a:p>
            <a:r>
              <a:rPr lang="en-US" dirty="0"/>
              <a:t>This is the registered select signal from Stage 1.</a:t>
            </a:r>
          </a:p>
          <a:p>
            <a:r>
              <a:rPr lang="en-US" dirty="0"/>
              <a:t>It becomes stable before entering the clock gating logic.</a:t>
            </a:r>
          </a:p>
          <a:p>
            <a:endParaRPr lang="en-US" dirty="0"/>
          </a:p>
          <a:p>
            <a:r>
              <a:rPr lang="en-US" dirty="0"/>
              <a:t>ICG</a:t>
            </a:r>
          </a:p>
          <a:p>
            <a:r>
              <a:rPr lang="en-US" dirty="0"/>
              <a:t>he ICG cell disables the clock for unused ALU sections.</a:t>
            </a:r>
          </a:p>
          <a:p>
            <a:endParaRPr lang="en-US" dirty="0"/>
          </a:p>
          <a:p>
            <a:r>
              <a:rPr lang="en-US" b="1" dirty="0"/>
              <a:t>Gated Clocks</a:t>
            </a:r>
          </a:p>
          <a:p>
            <a:r>
              <a:rPr lang="en-US" dirty="0"/>
              <a:t>The ICG outputs gated clocks to Stage 2.</a:t>
            </a:r>
          </a:p>
          <a:p>
            <a:r>
              <a:rPr lang="en-US" dirty="0"/>
              <a:t>These clocks activate only required execution units.</a:t>
            </a:r>
          </a:p>
          <a:p>
            <a:r>
              <a:rPr lang="en-US" dirty="0"/>
              <a:t>Example:</a:t>
            </a:r>
          </a:p>
          <a:p>
            <a:r>
              <a:rPr lang="en-US" dirty="0"/>
              <a:t>During ADD operation → adder section clock active </a:t>
            </a:r>
          </a:p>
          <a:p>
            <a:r>
              <a:rPr lang="en-US" dirty="0"/>
              <a:t>During AND operation → logic section clock active</a:t>
            </a:r>
          </a:p>
          <a:p>
            <a:endParaRPr lang="en-IN" dirty="0"/>
          </a:p>
          <a:p>
            <a:r>
              <a:rPr lang="en-US" b="1" dirty="0"/>
              <a:t>Stage 2 – Execute</a:t>
            </a:r>
          </a:p>
          <a:p>
            <a:r>
              <a:rPr lang="en-US" dirty="0"/>
              <a:t>This is the second pipeline stage.</a:t>
            </a:r>
          </a:p>
          <a:p>
            <a:r>
              <a:rPr lang="en-US" dirty="0"/>
              <a:t>Here the actual ALU operation is performed.</a:t>
            </a:r>
          </a:p>
          <a:p>
            <a:endParaRPr lang="en-IN" dirty="0"/>
          </a:p>
          <a:p>
            <a:r>
              <a:rPr lang="en-US" b="1" dirty="0"/>
              <a:t>Output Registers</a:t>
            </a:r>
          </a:p>
          <a:p>
            <a:r>
              <a:rPr lang="en-US" dirty="0"/>
              <a:t>After execution, results are stored in output registers.</a:t>
            </a:r>
          </a:p>
          <a:p>
            <a:endParaRPr lang="en-IN" dirty="0"/>
          </a:p>
        </p:txBody>
      </p:sp>
      <p:sp>
        <p:nvSpPr>
          <p:cNvPr id="4" name="Slide Number Placeholder 3"/>
          <p:cNvSpPr>
            <a:spLocks noGrp="1"/>
          </p:cNvSpPr>
          <p:nvPr>
            <p:ph type="sldNum" sz="quarter" idx="5"/>
          </p:nvPr>
        </p:nvSpPr>
        <p:spPr/>
        <p:txBody>
          <a:bodyPr/>
          <a:lstStyle/>
          <a:p>
            <a:fld id="{7E58843C-B795-4081-B306-932B4C399597}" type="slidenum">
              <a:rPr lang="en-IN" smtClean="0"/>
              <a:t>3</a:t>
            </a:fld>
            <a:endParaRPr lang="en-IN"/>
          </a:p>
        </p:txBody>
      </p:sp>
    </p:spTree>
    <p:extLst>
      <p:ext uri="{BB962C8B-B14F-4D97-AF65-F5344CB8AC3E}">
        <p14:creationId xmlns:p14="http://schemas.microsoft.com/office/powerpoint/2010/main" val="3982222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t>
            </a:r>
            <a:r>
              <a:rPr lang="en-US" dirty="0" err="1"/>
              <a:t>dynamiv</a:t>
            </a:r>
            <a:r>
              <a:rPr lang="en-US" dirty="0"/>
              <a:t> power, internal power, switching power</a:t>
            </a:r>
          </a:p>
          <a:p>
            <a:r>
              <a:rPr lang="en-US" dirty="0"/>
              <a:t>Tell that in this project we are focusing on switching activity reduction</a:t>
            </a:r>
          </a:p>
          <a:p>
            <a:endParaRPr lang="en-IN" dirty="0"/>
          </a:p>
        </p:txBody>
      </p:sp>
      <p:sp>
        <p:nvSpPr>
          <p:cNvPr id="4" name="Slide Number Placeholder 3"/>
          <p:cNvSpPr>
            <a:spLocks noGrp="1"/>
          </p:cNvSpPr>
          <p:nvPr>
            <p:ph type="sldNum" sz="quarter" idx="5"/>
          </p:nvPr>
        </p:nvSpPr>
        <p:spPr/>
        <p:txBody>
          <a:bodyPr/>
          <a:lstStyle/>
          <a:p>
            <a:fld id="{7E58843C-B795-4081-B306-932B4C399597}" type="slidenum">
              <a:rPr lang="en-IN" smtClean="0"/>
              <a:t>5</a:t>
            </a:fld>
            <a:endParaRPr lang="en-IN"/>
          </a:p>
        </p:txBody>
      </p:sp>
    </p:spTree>
    <p:extLst>
      <p:ext uri="{BB962C8B-B14F-4D97-AF65-F5344CB8AC3E}">
        <p14:creationId xmlns:p14="http://schemas.microsoft.com/office/powerpoint/2010/main" val="2822980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Explain the theoretical results,  power report,   and waveform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baseline architecture consists of a standard 16-bit ALU without clock gating and without pipelining. The ALU supports arithmetic operations such as ADD, SUB, INC, DEC, and SLT, along with logical operations including AND, OR, XOR, NAND, NOR, XNOR, NOT, and shift operations.</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baseline architecture serves as the reference design for all power and performance comparisons. Since no clock optimization techniques are used, all sequential elements receive continuous clock transitions regardless of activity.</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7E58843C-B795-4081-B306-932B4C399597}" type="slidenum">
              <a:rPr lang="en-IN" smtClean="0"/>
              <a:t>6</a:t>
            </a:fld>
            <a:endParaRPr lang="en-IN"/>
          </a:p>
        </p:txBody>
      </p:sp>
    </p:spTree>
    <p:extLst>
      <p:ext uri="{BB962C8B-B14F-4D97-AF65-F5344CB8AC3E}">
        <p14:creationId xmlns:p14="http://schemas.microsoft.com/office/powerpoint/2010/main" val="2064685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explain what is clock gating   </a:t>
            </a:r>
          </a:p>
          <a:p>
            <a:r>
              <a:rPr lang="en-US" sz="1200" kern="1200" dirty="0">
                <a:solidFill>
                  <a:schemeClr val="tx1"/>
                </a:solidFill>
                <a:effectLst/>
                <a:latin typeface="+mn-lt"/>
                <a:ea typeface="+mn-ea"/>
                <a:cs typeface="+mn-cs"/>
              </a:rPr>
              <a:t>Clock gating is one of the most effective low-power design techniques used in synchronous digital systems. Instead of continuously driving the clock signal to all registers, clock gating disables the clock to inactive modules. This reduces unnecessary switching activity and lowers dynamic power consumption.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Later start explaining ICG(integrated clock gating)</a:t>
            </a:r>
          </a:p>
          <a:p>
            <a:r>
              <a:rPr lang="en-US" sz="1200" kern="1200" dirty="0">
                <a:solidFill>
                  <a:schemeClr val="tx1"/>
                </a:solidFill>
                <a:effectLst/>
                <a:latin typeface="+mn-lt"/>
                <a:ea typeface="+mn-ea"/>
                <a:cs typeface="+mn-cs"/>
              </a:rPr>
              <a:t>Integrated Clock Gating (ICG) cells are specialized standard cells designed to safely gate clocks without introducing glitches. In this project, latch-based clock gating architecture was studied and implemented.</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ICG cell consists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low Level-sensitive latch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AND gate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3. Enable control signal</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latch captures the enable signal during the inactive phase of the clock and prevents glitches during active clock transitions.</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main advantages of latch-based ICG are: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Glitch-free clock gating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Reduced clock switching power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3. Safe clock operation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4. Better timing reliability</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Later explain code</a:t>
            </a:r>
            <a:endParaRPr lang="en-IN" dirty="0"/>
          </a:p>
        </p:txBody>
      </p:sp>
      <p:sp>
        <p:nvSpPr>
          <p:cNvPr id="4" name="Slide Number Placeholder 3"/>
          <p:cNvSpPr>
            <a:spLocks noGrp="1"/>
          </p:cNvSpPr>
          <p:nvPr>
            <p:ph type="sldNum" sz="quarter" idx="5"/>
          </p:nvPr>
        </p:nvSpPr>
        <p:spPr/>
        <p:txBody>
          <a:bodyPr/>
          <a:lstStyle/>
          <a:p>
            <a:fld id="{7E58843C-B795-4081-B306-932B4C399597}" type="slidenum">
              <a:rPr lang="en-IN" smtClean="0"/>
              <a:t>7</a:t>
            </a:fld>
            <a:endParaRPr lang="en-IN"/>
          </a:p>
        </p:txBody>
      </p:sp>
    </p:spTree>
    <p:extLst>
      <p:ext uri="{BB962C8B-B14F-4D97-AF65-F5344CB8AC3E}">
        <p14:creationId xmlns:p14="http://schemas.microsoft.com/office/powerpoint/2010/main" val="932617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everything </a:t>
            </a:r>
            <a:r>
              <a:rPr lang="en-US" dirty="0" err="1"/>
              <a:t>oin</a:t>
            </a:r>
            <a:r>
              <a:rPr lang="en-US" dirty="0"/>
              <a:t> the slide deck</a:t>
            </a:r>
          </a:p>
          <a:p>
            <a:r>
              <a:rPr lang="en-US" dirty="0"/>
              <a:t>Explain the </a:t>
            </a:r>
            <a:r>
              <a:rPr lang="en-US" dirty="0" err="1"/>
              <a:t>glich</a:t>
            </a:r>
            <a:endParaRPr lang="en-IN" dirty="0"/>
          </a:p>
        </p:txBody>
      </p:sp>
      <p:sp>
        <p:nvSpPr>
          <p:cNvPr id="4" name="Slide Number Placeholder 3"/>
          <p:cNvSpPr>
            <a:spLocks noGrp="1"/>
          </p:cNvSpPr>
          <p:nvPr>
            <p:ph type="sldNum" sz="quarter" idx="5"/>
          </p:nvPr>
        </p:nvSpPr>
        <p:spPr/>
        <p:txBody>
          <a:bodyPr/>
          <a:lstStyle/>
          <a:p>
            <a:fld id="{7E58843C-B795-4081-B306-932B4C399597}" type="slidenum">
              <a:rPr lang="en-IN" smtClean="0"/>
              <a:t>8</a:t>
            </a:fld>
            <a:endParaRPr lang="en-IN"/>
          </a:p>
        </p:txBody>
      </p:sp>
    </p:spTree>
    <p:extLst>
      <p:ext uri="{BB962C8B-B14F-4D97-AF65-F5344CB8AC3E}">
        <p14:creationId xmlns:p14="http://schemas.microsoft.com/office/powerpoint/2010/main" val="3349048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Pipeline registers were inserted between stages to reduce combinational delay and improve timing performance.</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Advantages of pipelining: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Higher operating frequency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Improved throughput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3. Reduced critical path delay</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Disadvantages: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Additional registers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Increased clock power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3. Higher switching activity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4. Larger area</a:t>
            </a:r>
            <a:br>
              <a:rPr lang="en-US" sz="1200" kern="1200" dirty="0">
                <a:solidFill>
                  <a:schemeClr val="tx1"/>
                </a:solidFill>
                <a:effectLst/>
                <a:latin typeface="+mn-lt"/>
                <a:ea typeface="+mn-ea"/>
                <a:cs typeface="+mn-cs"/>
              </a:rPr>
            </a:br>
            <a:endParaRPr lang="en-IN" dirty="0"/>
          </a:p>
        </p:txBody>
      </p:sp>
      <p:sp>
        <p:nvSpPr>
          <p:cNvPr id="4" name="Slide Number Placeholder 3"/>
          <p:cNvSpPr>
            <a:spLocks noGrp="1"/>
          </p:cNvSpPr>
          <p:nvPr>
            <p:ph type="sldNum" sz="quarter" idx="5"/>
          </p:nvPr>
        </p:nvSpPr>
        <p:spPr/>
        <p:txBody>
          <a:bodyPr/>
          <a:lstStyle/>
          <a:p>
            <a:fld id="{7E58843C-B795-4081-B306-932B4C399597}" type="slidenum">
              <a:rPr lang="en-IN" smtClean="0"/>
              <a:t>9</a:t>
            </a:fld>
            <a:endParaRPr lang="en-IN"/>
          </a:p>
        </p:txBody>
      </p:sp>
    </p:spTree>
    <p:extLst>
      <p:ext uri="{BB962C8B-B14F-4D97-AF65-F5344CB8AC3E}">
        <p14:creationId xmlns:p14="http://schemas.microsoft.com/office/powerpoint/2010/main" val="2423208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t>
            </a:r>
            <a:r>
              <a:rPr lang="en-US" dirty="0" err="1"/>
              <a:t>eeverything</a:t>
            </a:r>
            <a:endParaRPr lang="en-IN" dirty="0"/>
          </a:p>
        </p:txBody>
      </p:sp>
      <p:sp>
        <p:nvSpPr>
          <p:cNvPr id="4" name="Slide Number Placeholder 3"/>
          <p:cNvSpPr>
            <a:spLocks noGrp="1"/>
          </p:cNvSpPr>
          <p:nvPr>
            <p:ph type="sldNum" sz="quarter" idx="5"/>
          </p:nvPr>
        </p:nvSpPr>
        <p:spPr/>
        <p:txBody>
          <a:bodyPr/>
          <a:lstStyle/>
          <a:p>
            <a:fld id="{7E58843C-B795-4081-B306-932B4C399597}" type="slidenum">
              <a:rPr lang="en-IN" smtClean="0"/>
              <a:t>10</a:t>
            </a:fld>
            <a:endParaRPr lang="en-IN"/>
          </a:p>
        </p:txBody>
      </p:sp>
    </p:spTree>
    <p:extLst>
      <p:ext uri="{BB962C8B-B14F-4D97-AF65-F5344CB8AC3E}">
        <p14:creationId xmlns:p14="http://schemas.microsoft.com/office/powerpoint/2010/main" val="1344317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explain the </a:t>
            </a:r>
            <a:r>
              <a:rPr lang="en-US" dirty="0" err="1"/>
              <a:t>yosys</a:t>
            </a:r>
            <a:r>
              <a:rPr lang="en-US" dirty="0"/>
              <a:t> script</a:t>
            </a:r>
          </a:p>
          <a:p>
            <a:endParaRPr lang="en-IN" dirty="0"/>
          </a:p>
        </p:txBody>
      </p:sp>
      <p:sp>
        <p:nvSpPr>
          <p:cNvPr id="4" name="Slide Number Placeholder 3"/>
          <p:cNvSpPr>
            <a:spLocks noGrp="1"/>
          </p:cNvSpPr>
          <p:nvPr>
            <p:ph type="sldNum" sz="quarter" idx="5"/>
          </p:nvPr>
        </p:nvSpPr>
        <p:spPr/>
        <p:txBody>
          <a:bodyPr/>
          <a:lstStyle/>
          <a:p>
            <a:fld id="{7E58843C-B795-4081-B306-932B4C399597}" type="slidenum">
              <a:rPr lang="en-IN" smtClean="0"/>
              <a:t>11</a:t>
            </a:fld>
            <a:endParaRPr lang="en-IN"/>
          </a:p>
        </p:txBody>
      </p:sp>
    </p:spTree>
    <p:extLst>
      <p:ext uri="{BB962C8B-B14F-4D97-AF65-F5344CB8AC3E}">
        <p14:creationId xmlns:p14="http://schemas.microsoft.com/office/powerpoint/2010/main" val="1377377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increment and decrement of all power</a:t>
            </a:r>
          </a:p>
          <a:p>
            <a:r>
              <a:rPr lang="en-US" dirty="0"/>
              <a:t>Add this line  </a:t>
            </a:r>
            <a:r>
              <a:rPr lang="en-US" b="1" dirty="0"/>
              <a:t>Although theoretical expectations suggested reduced dynamic power with pipelining and clock gating, practical synthesis results for the 16-bit ALU showed increased dynamic power due to added sequential elements, higher clock tree activity, and increased register switching overhead. This demonstrates the real-world tradeoff between performance optimization and power consumption in small-scale digital designs.</a:t>
            </a:r>
            <a:endParaRPr lang="en-IN" b="1" dirty="0"/>
          </a:p>
        </p:txBody>
      </p:sp>
      <p:sp>
        <p:nvSpPr>
          <p:cNvPr id="4" name="Slide Number Placeholder 3"/>
          <p:cNvSpPr>
            <a:spLocks noGrp="1"/>
          </p:cNvSpPr>
          <p:nvPr>
            <p:ph type="sldNum" sz="quarter" idx="5"/>
          </p:nvPr>
        </p:nvSpPr>
        <p:spPr/>
        <p:txBody>
          <a:bodyPr/>
          <a:lstStyle/>
          <a:p>
            <a:fld id="{7E58843C-B795-4081-B306-932B4C399597}" type="slidenum">
              <a:rPr lang="en-IN" smtClean="0"/>
              <a:t>12</a:t>
            </a:fld>
            <a:endParaRPr lang="en-IN"/>
          </a:p>
        </p:txBody>
      </p:sp>
    </p:spTree>
    <p:extLst>
      <p:ext uri="{BB962C8B-B14F-4D97-AF65-F5344CB8AC3E}">
        <p14:creationId xmlns:p14="http://schemas.microsoft.com/office/powerpoint/2010/main" val="3562872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bar graph</a:t>
            </a:r>
            <a:endParaRPr lang="en-IN" dirty="0"/>
          </a:p>
        </p:txBody>
      </p:sp>
      <p:sp>
        <p:nvSpPr>
          <p:cNvPr id="4" name="Slide Number Placeholder 3"/>
          <p:cNvSpPr>
            <a:spLocks noGrp="1"/>
          </p:cNvSpPr>
          <p:nvPr>
            <p:ph type="sldNum" sz="quarter" idx="5"/>
          </p:nvPr>
        </p:nvSpPr>
        <p:spPr/>
        <p:txBody>
          <a:bodyPr/>
          <a:lstStyle/>
          <a:p>
            <a:fld id="{7E58843C-B795-4081-B306-932B4C399597}" type="slidenum">
              <a:rPr lang="en-IN" smtClean="0"/>
              <a:t>13</a:t>
            </a:fld>
            <a:endParaRPr lang="en-IN"/>
          </a:p>
        </p:txBody>
      </p:sp>
    </p:spTree>
    <p:extLst>
      <p:ext uri="{BB962C8B-B14F-4D97-AF65-F5344CB8AC3E}">
        <p14:creationId xmlns:p14="http://schemas.microsoft.com/office/powerpoint/2010/main" val="106305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1. Microprocessors</a:t>
            </a:r>
          </a:p>
          <a:p>
            <a:r>
              <a:rPr lang="en-IN" dirty="0"/>
              <a:t>ALU is the core computational unit inside processors.</a:t>
            </a:r>
          </a:p>
          <a:p>
            <a:r>
              <a:rPr lang="en-IN" dirty="0"/>
              <a:t>Your design can be used in:</a:t>
            </a:r>
          </a:p>
          <a:p>
            <a:r>
              <a:rPr lang="en-IN" dirty="0"/>
              <a:t>CPUs </a:t>
            </a:r>
          </a:p>
          <a:p>
            <a:r>
              <a:rPr lang="en-IN" dirty="0"/>
              <a:t>microcontrollers </a:t>
            </a:r>
          </a:p>
          <a:p>
            <a:r>
              <a:rPr lang="en-IN" dirty="0"/>
              <a:t>embedded processors </a:t>
            </a:r>
          </a:p>
          <a:p>
            <a:r>
              <a:rPr lang="en-IN" dirty="0"/>
              <a:t>Examples:</a:t>
            </a:r>
          </a:p>
          <a:p>
            <a:r>
              <a:rPr lang="en-IN" dirty="0"/>
              <a:t>ARM processors </a:t>
            </a:r>
          </a:p>
          <a:p>
            <a:r>
              <a:rPr lang="en-IN" dirty="0"/>
              <a:t>RISC-V cores </a:t>
            </a:r>
          </a:p>
          <a:p>
            <a:r>
              <a:rPr lang="en-IN" dirty="0"/>
              <a:t>DSP processors </a:t>
            </a:r>
          </a:p>
          <a:p>
            <a:br>
              <a:rPr lang="en-IN" dirty="0"/>
            </a:br>
            <a:endParaRPr lang="en-IN" dirty="0"/>
          </a:p>
          <a:p>
            <a:r>
              <a:rPr lang="en-IN" b="1" dirty="0"/>
              <a:t>2. Low-Power Embedded Systems</a:t>
            </a:r>
          </a:p>
          <a:p>
            <a:r>
              <a:rPr lang="en-IN" dirty="0"/>
              <a:t>Because your design uses:</a:t>
            </a:r>
          </a:p>
          <a:p>
            <a:r>
              <a:rPr lang="en-IN" dirty="0"/>
              <a:t>clock gating </a:t>
            </a:r>
          </a:p>
          <a:p>
            <a:r>
              <a:rPr lang="en-IN" dirty="0"/>
              <a:t>pipelining </a:t>
            </a:r>
          </a:p>
          <a:p>
            <a:r>
              <a:rPr lang="en-IN" dirty="0"/>
              <a:t>it reduces:</a:t>
            </a:r>
          </a:p>
          <a:p>
            <a:r>
              <a:rPr lang="en-IN" dirty="0"/>
              <a:t>dynamic power </a:t>
            </a:r>
          </a:p>
          <a:p>
            <a:r>
              <a:rPr lang="en-IN" dirty="0"/>
              <a:t>unnecessary switching activity </a:t>
            </a:r>
          </a:p>
          <a:p>
            <a:r>
              <a:rPr lang="en-IN" dirty="0"/>
              <a:t>Useful in:</a:t>
            </a:r>
          </a:p>
          <a:p>
            <a:r>
              <a:rPr lang="en-IN" dirty="0"/>
              <a:t>battery-powered devices </a:t>
            </a:r>
          </a:p>
          <a:p>
            <a:r>
              <a:rPr lang="en-IN" dirty="0"/>
              <a:t>portable systems </a:t>
            </a:r>
          </a:p>
          <a:p>
            <a:r>
              <a:rPr lang="en-IN" dirty="0"/>
              <a:t>Examples:</a:t>
            </a:r>
          </a:p>
          <a:p>
            <a:r>
              <a:rPr lang="en-IN" dirty="0"/>
              <a:t>smart watches </a:t>
            </a:r>
          </a:p>
          <a:p>
            <a:r>
              <a:rPr lang="en-IN" dirty="0"/>
              <a:t>fitness bands </a:t>
            </a:r>
          </a:p>
          <a:p>
            <a:r>
              <a:rPr lang="en-IN" dirty="0"/>
              <a:t>IoT nodes </a:t>
            </a:r>
          </a:p>
          <a:p>
            <a:br>
              <a:rPr lang="en-IN" dirty="0"/>
            </a:br>
            <a:endParaRPr lang="en-IN" dirty="0"/>
          </a:p>
          <a:p>
            <a:r>
              <a:rPr lang="en-IN" b="1" dirty="0"/>
              <a:t>3. Mobile Devices</a:t>
            </a:r>
          </a:p>
          <a:p>
            <a:r>
              <a:rPr lang="en-IN" dirty="0"/>
              <a:t>Modern mobile chips require:</a:t>
            </a:r>
          </a:p>
          <a:p>
            <a:r>
              <a:rPr lang="en-IN" dirty="0"/>
              <a:t>low power </a:t>
            </a:r>
          </a:p>
          <a:p>
            <a:r>
              <a:rPr lang="en-IN" dirty="0"/>
              <a:t>high speed </a:t>
            </a:r>
          </a:p>
          <a:p>
            <a:r>
              <a:rPr lang="en-IN" dirty="0"/>
              <a:t>efficient arithmetic computation </a:t>
            </a:r>
          </a:p>
          <a:p>
            <a:r>
              <a:rPr lang="en-IN" dirty="0"/>
              <a:t>Your project techniques are used in:</a:t>
            </a:r>
          </a:p>
          <a:p>
            <a:r>
              <a:rPr lang="en-IN" dirty="0"/>
              <a:t>smartphones </a:t>
            </a:r>
          </a:p>
          <a:p>
            <a:r>
              <a:rPr lang="en-IN" dirty="0"/>
              <a:t>tablets </a:t>
            </a:r>
          </a:p>
          <a:p>
            <a:r>
              <a:rPr lang="en-IN" dirty="0"/>
              <a:t>wearable electronics </a:t>
            </a:r>
          </a:p>
          <a:p>
            <a:br>
              <a:rPr lang="en-IN" dirty="0"/>
            </a:br>
            <a:endParaRPr lang="en-IN" dirty="0"/>
          </a:p>
          <a:p>
            <a:r>
              <a:rPr lang="en-IN" b="1" dirty="0"/>
              <a:t>4. DSP (Digital Signal Processing)</a:t>
            </a:r>
          </a:p>
          <a:p>
            <a:r>
              <a:rPr lang="en-IN" dirty="0"/>
              <a:t>DSP systems continuously perform:</a:t>
            </a:r>
          </a:p>
          <a:p>
            <a:r>
              <a:rPr lang="en-IN" dirty="0"/>
              <a:t>additions </a:t>
            </a:r>
          </a:p>
          <a:p>
            <a:r>
              <a:rPr lang="en-IN" dirty="0"/>
              <a:t>subtractions </a:t>
            </a:r>
          </a:p>
          <a:p>
            <a:r>
              <a:rPr lang="en-IN" dirty="0"/>
              <a:t>logic operations </a:t>
            </a:r>
          </a:p>
          <a:p>
            <a:r>
              <a:rPr lang="en-IN" dirty="0"/>
              <a:t>shifting </a:t>
            </a:r>
          </a:p>
          <a:p>
            <a:r>
              <a:rPr lang="en-IN" dirty="0"/>
              <a:t>Your ALU can be integrated into:</a:t>
            </a:r>
          </a:p>
          <a:p>
            <a:r>
              <a:rPr lang="en-IN" dirty="0"/>
              <a:t>FIR filters </a:t>
            </a:r>
          </a:p>
          <a:p>
            <a:r>
              <a:rPr lang="en-IN" dirty="0"/>
              <a:t>image processing units </a:t>
            </a:r>
          </a:p>
          <a:p>
            <a:r>
              <a:rPr lang="en-IN" dirty="0"/>
              <a:t>audio processors </a:t>
            </a:r>
          </a:p>
          <a:p>
            <a:br>
              <a:rPr lang="en-IN" dirty="0"/>
            </a:br>
            <a:endParaRPr lang="en-IN" dirty="0"/>
          </a:p>
          <a:p>
            <a:r>
              <a:rPr lang="en-IN" b="1" dirty="0"/>
              <a:t>5. AI and Edge Computing Hardware</a:t>
            </a:r>
          </a:p>
          <a:p>
            <a:r>
              <a:rPr lang="en-IN" dirty="0"/>
              <a:t>AI accelerators require:</a:t>
            </a:r>
          </a:p>
          <a:p>
            <a:r>
              <a:rPr lang="en-IN" dirty="0"/>
              <a:t>fast arithmetic </a:t>
            </a:r>
          </a:p>
          <a:p>
            <a:r>
              <a:rPr lang="en-IN" dirty="0"/>
              <a:t>optimized power consumption </a:t>
            </a:r>
          </a:p>
          <a:p>
            <a:r>
              <a:rPr lang="en-IN" dirty="0"/>
              <a:t>Clock gating is heavily used in:</a:t>
            </a:r>
          </a:p>
          <a:p>
            <a:r>
              <a:rPr lang="en-IN" dirty="0"/>
              <a:t>TPUs </a:t>
            </a:r>
          </a:p>
          <a:p>
            <a:r>
              <a:rPr lang="en-IN" dirty="0"/>
              <a:t>NPUs </a:t>
            </a:r>
          </a:p>
          <a:p>
            <a:r>
              <a:rPr lang="en-IN" dirty="0"/>
              <a:t>edge AI chips </a:t>
            </a:r>
          </a:p>
          <a:p>
            <a:br>
              <a:rPr lang="en-IN" dirty="0"/>
            </a:br>
            <a:endParaRPr lang="en-IN" dirty="0"/>
          </a:p>
          <a:p>
            <a:r>
              <a:rPr lang="en-IN" b="1" dirty="0"/>
              <a:t>6. FPGA-Based Systems</a:t>
            </a:r>
          </a:p>
          <a:p>
            <a:r>
              <a:rPr lang="en-IN" dirty="0"/>
              <a:t>Your design can be synthesized on:</a:t>
            </a:r>
          </a:p>
          <a:p>
            <a:r>
              <a:rPr lang="en-IN" dirty="0"/>
              <a:t>Xilinx FPGA </a:t>
            </a:r>
          </a:p>
          <a:p>
            <a:r>
              <a:rPr lang="en-IN" dirty="0"/>
              <a:t>Intel FPGA </a:t>
            </a:r>
          </a:p>
          <a:p>
            <a:r>
              <a:rPr lang="en-IN" dirty="0"/>
              <a:t>Applications:</a:t>
            </a:r>
          </a:p>
          <a:p>
            <a:r>
              <a:rPr lang="en-IN" dirty="0"/>
              <a:t>hardware prototyping </a:t>
            </a:r>
          </a:p>
          <a:p>
            <a:r>
              <a:rPr lang="en-IN" dirty="0"/>
              <a:t>custom accelerators </a:t>
            </a:r>
          </a:p>
          <a:p>
            <a:r>
              <a:rPr lang="en-IN" dirty="0"/>
              <a:t>educational processor cores </a:t>
            </a:r>
          </a:p>
          <a:p>
            <a:br>
              <a:rPr lang="en-IN" dirty="0"/>
            </a:br>
            <a:endParaRPr lang="en-IN" dirty="0"/>
          </a:p>
          <a:p>
            <a:r>
              <a:rPr lang="en-IN" b="1" dirty="0"/>
              <a:t>7. SoC (System-on-Chip) Design</a:t>
            </a:r>
          </a:p>
          <a:p>
            <a:r>
              <a:rPr lang="en-IN" dirty="0"/>
              <a:t>ALUs are essential blocks inside:</a:t>
            </a:r>
          </a:p>
          <a:p>
            <a:r>
              <a:rPr lang="en-IN" dirty="0"/>
              <a:t>processors </a:t>
            </a:r>
          </a:p>
          <a:p>
            <a:r>
              <a:rPr lang="en-IN" dirty="0"/>
              <a:t>memory controllers </a:t>
            </a:r>
          </a:p>
          <a:p>
            <a:r>
              <a:rPr lang="en-IN" dirty="0"/>
              <a:t>hardware accelerators </a:t>
            </a:r>
          </a:p>
          <a:p>
            <a:r>
              <a:rPr lang="en-IN" dirty="0"/>
              <a:t>Your project demonstrates:</a:t>
            </a:r>
          </a:p>
          <a:p>
            <a:r>
              <a:rPr lang="en-IN" dirty="0"/>
              <a:t>RTL design </a:t>
            </a:r>
          </a:p>
          <a:p>
            <a:r>
              <a:rPr lang="en-IN" dirty="0"/>
              <a:t>low-power techniques </a:t>
            </a:r>
          </a:p>
          <a:p>
            <a:r>
              <a:rPr lang="en-IN" dirty="0"/>
              <a:t>pipeline architecture </a:t>
            </a:r>
          </a:p>
          <a:p>
            <a:r>
              <a:rPr lang="en-IN" dirty="0"/>
              <a:t>which are directly relevant to SoC design.</a:t>
            </a:r>
          </a:p>
          <a:p>
            <a:endParaRPr lang="en-IN" dirty="0"/>
          </a:p>
        </p:txBody>
      </p:sp>
      <p:sp>
        <p:nvSpPr>
          <p:cNvPr id="4" name="Slide Number Placeholder 3"/>
          <p:cNvSpPr>
            <a:spLocks noGrp="1"/>
          </p:cNvSpPr>
          <p:nvPr>
            <p:ph type="sldNum" sz="quarter" idx="5"/>
          </p:nvPr>
        </p:nvSpPr>
        <p:spPr/>
        <p:txBody>
          <a:bodyPr/>
          <a:lstStyle/>
          <a:p>
            <a:fld id="{7E58843C-B795-4081-B306-932B4C399597}" type="slidenum">
              <a:rPr lang="en-IN" smtClean="0"/>
              <a:t>14</a:t>
            </a:fld>
            <a:endParaRPr lang="en-IN"/>
          </a:p>
        </p:txBody>
      </p:sp>
    </p:spTree>
    <p:extLst>
      <p:ext uri="{BB962C8B-B14F-4D97-AF65-F5344CB8AC3E}">
        <p14:creationId xmlns:p14="http://schemas.microsoft.com/office/powerpoint/2010/main" val="639164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can to full </a:t>
            </a:r>
            <a:r>
              <a:rPr lang="en-US" dirty="0" err="1"/>
              <a:t>rtl</a:t>
            </a:r>
            <a:r>
              <a:rPr lang="en-US" dirty="0"/>
              <a:t> to gds2 implementation by taking it forward from synthesis</a:t>
            </a:r>
            <a:endParaRPr lang="en-IN" dirty="0"/>
          </a:p>
        </p:txBody>
      </p:sp>
      <p:sp>
        <p:nvSpPr>
          <p:cNvPr id="4" name="Slide Number Placeholder 3"/>
          <p:cNvSpPr>
            <a:spLocks noGrp="1"/>
          </p:cNvSpPr>
          <p:nvPr>
            <p:ph type="sldNum" sz="quarter" idx="5"/>
          </p:nvPr>
        </p:nvSpPr>
        <p:spPr/>
        <p:txBody>
          <a:bodyPr/>
          <a:lstStyle/>
          <a:p>
            <a:fld id="{7E58843C-B795-4081-B306-932B4C399597}" type="slidenum">
              <a:rPr lang="en-IN" smtClean="0"/>
              <a:t>15</a:t>
            </a:fld>
            <a:endParaRPr lang="en-IN"/>
          </a:p>
        </p:txBody>
      </p:sp>
    </p:spTree>
    <p:extLst>
      <p:ext uri="{BB962C8B-B14F-4D97-AF65-F5344CB8AC3E}">
        <p14:creationId xmlns:p14="http://schemas.microsoft.com/office/powerpoint/2010/main" val="826062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900"/>
              <a:buNone/>
              <a:defRPr sz="65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4" name="Google Shape;14;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245358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Tree>
    <p:extLst>
      <p:ext uri="{BB962C8B-B14F-4D97-AF65-F5344CB8AC3E}">
        <p14:creationId xmlns:p14="http://schemas.microsoft.com/office/powerpoint/2010/main" val="2389838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1653533"/>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2577533"/>
            <a:ext cx="5333200" cy="35144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2577533"/>
            <a:ext cx="5333200" cy="35144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Tree>
    <p:extLst>
      <p:ext uri="{BB962C8B-B14F-4D97-AF65-F5344CB8AC3E}">
        <p14:creationId xmlns:p14="http://schemas.microsoft.com/office/powerpoint/2010/main" val="2429614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28" name="Google Shape;28;p7"/>
          <p:cNvSpPr txBox="1">
            <a:spLocks noGrp="1"/>
          </p:cNvSpPr>
          <p:nvPr>
            <p:ph type="body" idx="1"/>
          </p:nvPr>
        </p:nvSpPr>
        <p:spPr>
          <a:xfrm>
            <a:off x="415600" y="1852800"/>
            <a:ext cx="67272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Tree>
    <p:extLst>
      <p:ext uri="{BB962C8B-B14F-4D97-AF65-F5344CB8AC3E}">
        <p14:creationId xmlns:p14="http://schemas.microsoft.com/office/powerpoint/2010/main" val="3503867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3900"/>
              <a:buNone/>
              <a:defRPr sz="52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Tree>
    <p:extLst>
      <p:ext uri="{BB962C8B-B14F-4D97-AF65-F5344CB8AC3E}">
        <p14:creationId xmlns:p14="http://schemas.microsoft.com/office/powerpoint/2010/main" val="2078089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1"/>
        <p:cNvGrpSpPr/>
        <p:nvPr/>
      </p:nvGrpSpPr>
      <p:grpSpPr>
        <a:xfrm>
          <a:off x="0" y="0"/>
          <a:ext cx="0" cy="0"/>
          <a:chOff x="0" y="0"/>
          <a:chExt cx="0" cy="0"/>
        </a:xfrm>
      </p:grpSpPr>
      <p:sp>
        <p:nvSpPr>
          <p:cNvPr id="32" name="Google Shape;32;p9"/>
          <p:cNvSpPr/>
          <p:nvPr/>
        </p:nvSpPr>
        <p:spPr>
          <a:xfrm>
            <a:off x="6096000" y="-167"/>
            <a:ext cx="6096000" cy="63548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4" name="Google Shape;34;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5" name="Google Shape;35;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Tree>
    <p:extLst>
      <p:ext uri="{BB962C8B-B14F-4D97-AF65-F5344CB8AC3E}">
        <p14:creationId xmlns:p14="http://schemas.microsoft.com/office/powerpoint/2010/main" val="1925497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6"/>
        <p:cNvGrpSpPr/>
        <p:nvPr/>
      </p:nvGrpSpPr>
      <p:grpSpPr>
        <a:xfrm>
          <a:off x="0" y="0"/>
          <a:ext cx="0" cy="0"/>
          <a:chOff x="0" y="0"/>
          <a:chExt cx="0" cy="0"/>
        </a:xfrm>
      </p:grpSpPr>
      <p:sp>
        <p:nvSpPr>
          <p:cNvPr id="37" name="Google Shape;37;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Tree>
    <p:extLst>
      <p:ext uri="{BB962C8B-B14F-4D97-AF65-F5344CB8AC3E}">
        <p14:creationId xmlns:p14="http://schemas.microsoft.com/office/powerpoint/2010/main" val="1501017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8"/>
        <p:cNvGrpSpPr/>
        <p:nvPr/>
      </p:nvGrpSpPr>
      <p:grpSpPr>
        <a:xfrm>
          <a:off x="0" y="0"/>
          <a:ext cx="0" cy="0"/>
          <a:chOff x="0" y="0"/>
          <a:chExt cx="0" cy="0"/>
        </a:xfrm>
      </p:grpSpPr>
      <p:sp>
        <p:nvSpPr>
          <p:cNvPr id="39" name="Google Shape;39;p11"/>
          <p:cNvSpPr txBox="1">
            <a:spLocks noGrp="1"/>
          </p:cNvSpPr>
          <p:nvPr>
            <p:ph type="title" hasCustomPrompt="1"/>
          </p:nvPr>
        </p:nvSpPr>
        <p:spPr>
          <a:xfrm>
            <a:off x="415600" y="1616767"/>
            <a:ext cx="11360800" cy="135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7200"/>
              <a:buNone/>
              <a:defRPr sz="96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0" name="Google Shape;40;p11"/>
          <p:cNvSpPr txBox="1">
            <a:spLocks noGrp="1"/>
          </p:cNvSpPr>
          <p:nvPr>
            <p:ph type="body" idx="1"/>
          </p:nvPr>
        </p:nvSpPr>
        <p:spPr>
          <a:xfrm>
            <a:off x="415600" y="2809467"/>
            <a:ext cx="11360800" cy="31280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Tree>
    <p:extLst>
      <p:ext uri="{BB962C8B-B14F-4D97-AF65-F5344CB8AC3E}">
        <p14:creationId xmlns:p14="http://schemas.microsoft.com/office/powerpoint/2010/main" val="433523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
        <p:cNvGrpSpPr/>
        <p:nvPr/>
      </p:nvGrpSpPr>
      <p:grpSpPr>
        <a:xfrm>
          <a:off x="0" y="0"/>
          <a:ext cx="0" cy="0"/>
          <a:chOff x="0" y="0"/>
          <a:chExt cx="0" cy="0"/>
        </a:xfrm>
      </p:grpSpPr>
    </p:spTree>
    <p:extLst>
      <p:ext uri="{BB962C8B-B14F-4D97-AF65-F5344CB8AC3E}">
        <p14:creationId xmlns:p14="http://schemas.microsoft.com/office/powerpoint/2010/main" val="2462112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1653533"/>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2660367"/>
            <a:ext cx="11360800" cy="3431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GB" smtClean="0"/>
              <a:pPr/>
              <a:t>‹#›</a:t>
            </a:fld>
            <a:endParaRPr lang="en-GB"/>
          </a:p>
        </p:txBody>
      </p:sp>
      <p:pic>
        <p:nvPicPr>
          <p:cNvPr id="9" name="Google Shape;9;p1" title="Nitte University Logo Blue.png"/>
          <p:cNvPicPr preferRelativeResize="0"/>
          <p:nvPr/>
        </p:nvPicPr>
        <p:blipFill>
          <a:blip r:embed="rId11">
            <a:alphaModFix/>
          </a:blip>
          <a:stretch>
            <a:fillRect/>
          </a:stretch>
        </p:blipFill>
        <p:spPr>
          <a:xfrm>
            <a:off x="9294667" y="385234"/>
            <a:ext cx="2462269" cy="983468"/>
          </a:xfrm>
          <a:prstGeom prst="rect">
            <a:avLst/>
          </a:prstGeom>
          <a:noFill/>
          <a:ln>
            <a:noFill/>
          </a:ln>
        </p:spPr>
      </p:pic>
      <p:sp>
        <p:nvSpPr>
          <p:cNvPr id="10" name="Google Shape;10;p1"/>
          <p:cNvSpPr/>
          <p:nvPr/>
        </p:nvSpPr>
        <p:spPr>
          <a:xfrm>
            <a:off x="-129200" y="6370833"/>
            <a:ext cx="12427200" cy="646000"/>
          </a:xfrm>
          <a:prstGeom prst="rect">
            <a:avLst/>
          </a:prstGeom>
          <a:solidFill>
            <a:srgbClr val="FDB913"/>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2400"/>
          </a:p>
        </p:txBody>
      </p:sp>
      <p:sp>
        <p:nvSpPr>
          <p:cNvPr id="11" name="Google Shape;11;p1"/>
          <p:cNvSpPr txBox="1"/>
          <p:nvPr/>
        </p:nvSpPr>
        <p:spPr>
          <a:xfrm>
            <a:off x="0" y="6399200"/>
            <a:ext cx="12321200" cy="5248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GB" sz="2400" b="1"/>
              <a:t>nitte.edu.in</a:t>
            </a:r>
            <a:endParaRPr sz="2400" b="1"/>
          </a:p>
        </p:txBody>
      </p:sp>
    </p:spTree>
    <p:extLst>
      <p:ext uri="{BB962C8B-B14F-4D97-AF65-F5344CB8AC3E}">
        <p14:creationId xmlns:p14="http://schemas.microsoft.com/office/powerpoint/2010/main" val="159971403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skywater-pdk.readthedocs.io/en/main/?utm_source=chatgpt.com" TargetMode="External"/><Relationship Id="rId2" Type="http://schemas.openxmlformats.org/officeDocument/2006/relationships/hyperlink" Target="https://yosyshq.net/yosys/?utm_source=chatgpt.com" TargetMode="External"/><Relationship Id="rId1" Type="http://schemas.openxmlformats.org/officeDocument/2006/relationships/slideLayout" Target="../slideLayouts/slideLayout2.xml"/><Relationship Id="rId4" Type="http://schemas.openxmlformats.org/officeDocument/2006/relationships/hyperlink" Target="https://gtkwave.sourceforge.net/?utm_source=chatgpt.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5D2F7C8-3C2F-4C8D-0F23-F1A48971B4E8}"/>
              </a:ext>
            </a:extLst>
          </p:cNvPr>
          <p:cNvSpPr txBox="1"/>
          <p:nvPr/>
        </p:nvSpPr>
        <p:spPr>
          <a:xfrm>
            <a:off x="2043428" y="1440904"/>
            <a:ext cx="8949691" cy="423514"/>
          </a:xfrm>
          <a:prstGeom prst="rect">
            <a:avLst/>
          </a:prstGeom>
          <a:noFill/>
        </p:spPr>
        <p:txBody>
          <a:bodyPr wrap="square">
            <a:spAutoFit/>
          </a:bodyPr>
          <a:lstStyle/>
          <a:p>
            <a:pPr algn="ctr">
              <a:lnSpc>
                <a:spcPct val="115000"/>
              </a:lnSpc>
              <a:spcAft>
                <a:spcPts val="1000"/>
              </a:spcAft>
              <a:buNone/>
            </a:pPr>
            <a:r>
              <a:rPr lang="en-IN" sz="2000" b="1" kern="100" dirty="0">
                <a:effectLst/>
                <a:latin typeface="Times New Roman" panose="02020603050405020304" pitchFamily="18" charset="0"/>
                <a:cs typeface="Times New Roman" panose="02020603050405020304" pitchFamily="18" charset="0"/>
              </a:rPr>
              <a:t>Department of Electronics Engineering (VLSI Design and Technology)</a:t>
            </a:r>
            <a:endParaRPr lang="en-IN" sz="20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80924E4-A995-3B56-3951-4B5955B781D1}"/>
              </a:ext>
            </a:extLst>
          </p:cNvPr>
          <p:cNvSpPr txBox="1"/>
          <p:nvPr/>
        </p:nvSpPr>
        <p:spPr>
          <a:xfrm>
            <a:off x="2814002" y="2214880"/>
            <a:ext cx="6563995" cy="341632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IV SEMESTER</a:t>
            </a:r>
          </a:p>
          <a:p>
            <a:pPr algn="ctr"/>
            <a:r>
              <a:rPr lang="en-US" b="1" dirty="0">
                <a:latin typeface="Times New Roman" panose="02020603050405020304" pitchFamily="18" charset="0"/>
                <a:cs typeface="Times New Roman" panose="02020603050405020304" pitchFamily="18" charset="0"/>
              </a:rPr>
              <a:t>Group Project/ Mini Project(</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22VLP47</a:t>
            </a:r>
            <a:r>
              <a:rPr lang="en-US" b="1" dirty="0">
                <a:latin typeface="Times New Roman" panose="02020603050405020304" pitchFamily="18" charset="0"/>
                <a:cs typeface="Times New Roman" panose="02020603050405020304" pitchFamily="18" charset="0"/>
              </a:rPr>
              <a:t>)</a:t>
            </a:r>
          </a:p>
          <a:p>
            <a:pPr algn="ctr"/>
            <a:r>
              <a:rPr lang="en-US" b="1" dirty="0">
                <a:latin typeface="Times New Roman" panose="02020603050405020304" pitchFamily="18" charset="0"/>
                <a:cs typeface="Times New Roman" panose="02020603050405020304" pitchFamily="18" charset="0"/>
              </a:rPr>
              <a:t>Presentation on</a:t>
            </a:r>
            <a:endParaRPr lang="en-IN" b="1"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LOW POWER 16-BIT ALU DESIGN USING CLOCK GATING AND PIPELINING</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By</a:t>
            </a:r>
          </a:p>
          <a:p>
            <a:r>
              <a:rPr lang="en-US" dirty="0">
                <a:latin typeface="Times New Roman" panose="02020603050405020304" pitchFamily="18" charset="0"/>
                <a:cs typeface="Times New Roman" panose="02020603050405020304" pitchFamily="18" charset="0"/>
              </a:rPr>
              <a:t>Harshitha A                              1NT24VL019</a:t>
            </a:r>
          </a:p>
          <a:p>
            <a:r>
              <a:rPr lang="en-US" dirty="0">
                <a:latin typeface="Times New Roman" panose="02020603050405020304" pitchFamily="18" charset="0"/>
                <a:cs typeface="Times New Roman" panose="02020603050405020304" pitchFamily="18" charset="0"/>
              </a:rPr>
              <a:t>Thommandru </a:t>
            </a:r>
            <a:r>
              <a:rPr lang="en-US" dirty="0" err="1">
                <a:latin typeface="Times New Roman" panose="02020603050405020304" pitchFamily="18" charset="0"/>
                <a:cs typeface="Times New Roman" panose="02020603050405020304" pitchFamily="18" charset="0"/>
              </a:rPr>
              <a:t>Rushasree</a:t>
            </a:r>
            <a:r>
              <a:rPr lang="en-US" dirty="0">
                <a:latin typeface="Times New Roman" panose="02020603050405020304" pitchFamily="18" charset="0"/>
                <a:cs typeface="Times New Roman" panose="02020603050405020304" pitchFamily="18" charset="0"/>
              </a:rPr>
              <a:t>         1NT24VL053</a:t>
            </a:r>
          </a:p>
          <a:p>
            <a:r>
              <a:rPr lang="en-US" dirty="0">
                <a:latin typeface="Times New Roman" panose="02020603050405020304" pitchFamily="18" charset="0"/>
                <a:cs typeface="Times New Roman" panose="02020603050405020304" pitchFamily="18" charset="0"/>
              </a:rPr>
              <a:t>Sachin Shivakumar </a:t>
            </a:r>
            <a:r>
              <a:rPr lang="en-US" dirty="0" err="1">
                <a:latin typeface="Times New Roman" panose="02020603050405020304" pitchFamily="18" charset="0"/>
                <a:cs typeface="Times New Roman" panose="02020603050405020304" pitchFamily="18" charset="0"/>
              </a:rPr>
              <a:t>Sabarad</a:t>
            </a:r>
            <a:r>
              <a:rPr lang="en-US" dirty="0">
                <a:latin typeface="Times New Roman" panose="02020603050405020304" pitchFamily="18" charset="0"/>
                <a:cs typeface="Times New Roman" panose="02020603050405020304" pitchFamily="18" charset="0"/>
              </a:rPr>
              <a:t>   1NT24VL047</a:t>
            </a:r>
          </a:p>
          <a:p>
            <a:pPr algn="ct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5714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2EC54-B3E1-E922-29CE-00712C47B5B5}"/>
              </a:ext>
            </a:extLst>
          </p:cNvPr>
          <p:cNvSpPr txBox="1">
            <a:spLocks/>
          </p:cNvSpPr>
          <p:nvPr/>
        </p:nvSpPr>
        <p:spPr>
          <a:xfrm>
            <a:off x="370082" y="228600"/>
            <a:ext cx="3678187" cy="59579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US" sz="4400" b="1" kern="0" dirty="0">
                <a:latin typeface="Times New Roman" panose="02020603050405020304" pitchFamily="18" charset="0"/>
                <a:cs typeface="Times New Roman" panose="02020603050405020304" pitchFamily="18" charset="0"/>
              </a:rPr>
              <a:t>Introduction</a:t>
            </a:r>
            <a:r>
              <a:rPr lang="en-US" sz="2400" b="1" kern="0" dirty="0">
                <a:latin typeface="Times New Roman" panose="02020603050405020304" pitchFamily="18" charset="0"/>
                <a:cs typeface="Times New Roman" panose="02020603050405020304" pitchFamily="18" charset="0"/>
              </a:rPr>
              <a:t> </a:t>
            </a:r>
            <a:endParaRPr lang="en-IN" sz="2400" b="1" kern="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6B0AAEF-950D-B537-663A-0A2F065586E9}"/>
              </a:ext>
            </a:extLst>
          </p:cNvPr>
          <p:cNvSpPr txBox="1"/>
          <p:nvPr/>
        </p:nvSpPr>
        <p:spPr>
          <a:xfrm>
            <a:off x="262890" y="1093738"/>
            <a:ext cx="7113270" cy="3554819"/>
          </a:xfrm>
          <a:prstGeom prst="rect">
            <a:avLst/>
          </a:prstGeom>
          <a:noFill/>
        </p:spPr>
        <p:txBody>
          <a:bodyPr wrap="square">
            <a:spAutoFit/>
          </a:bodyPr>
          <a:lstStyle/>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High-performance and low-power VLSI designs</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Increasing transistor density raises power dissipation</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ALUs essential in modern digital systems</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Dynamic power caused by switching activity</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Clock networks consume major chip power</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Clock gating reduces unnecessary clock transitions</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Pipelining improves throughput and timing performance</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Project compares three ALU architectures</a:t>
            </a:r>
          </a:p>
        </p:txBody>
      </p:sp>
    </p:spTree>
    <p:extLst>
      <p:ext uri="{BB962C8B-B14F-4D97-AF65-F5344CB8AC3E}">
        <p14:creationId xmlns:p14="http://schemas.microsoft.com/office/powerpoint/2010/main" val="513093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FA120D-6662-0CA0-31A0-3D54EEBE56DB}"/>
              </a:ext>
            </a:extLst>
          </p:cNvPr>
          <p:cNvSpPr>
            <a:spLocks noGrp="1"/>
          </p:cNvSpPr>
          <p:nvPr>
            <p:ph type="title"/>
          </p:nvPr>
        </p:nvSpPr>
        <p:spPr>
          <a:xfrm>
            <a:off x="0" y="0"/>
            <a:ext cx="6523680" cy="632467"/>
          </a:xfrm>
        </p:spPr>
        <p:txBody>
          <a:bodyPr wrap="square" anchor="ctr">
            <a:normAutofit/>
          </a:bodyPr>
          <a:lstStyle/>
          <a:p>
            <a:pPr>
              <a:lnSpc>
                <a:spcPct val="90000"/>
              </a:lnSpc>
            </a:pPr>
            <a:r>
              <a:rPr lang="en-US" sz="3200" b="1" dirty="0">
                <a:latin typeface="Times New Roman" panose="02020603050405020304" pitchFamily="18" charset="0"/>
                <a:cs typeface="Times New Roman" panose="02020603050405020304" pitchFamily="18" charset="0"/>
              </a:rPr>
              <a:t>Block Diagram/Circuit Diagram</a:t>
            </a: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1E42845-169A-E0F8-BFFC-9777A0E73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03729"/>
            <a:ext cx="12192000" cy="5450541"/>
          </a:xfrm>
          <a:prstGeom prst="rect">
            <a:avLst/>
          </a:prstGeom>
        </p:spPr>
      </p:pic>
    </p:spTree>
    <p:extLst>
      <p:ext uri="{BB962C8B-B14F-4D97-AF65-F5344CB8AC3E}">
        <p14:creationId xmlns:p14="http://schemas.microsoft.com/office/powerpoint/2010/main" val="1974082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C9D2D-D6F1-FB02-7366-4501E638F34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AA9CD26-EB85-055A-0B9A-AC535DE6FAB2}"/>
              </a:ext>
            </a:extLst>
          </p:cNvPr>
          <p:cNvSpPr>
            <a:spLocks noGrp="1"/>
          </p:cNvSpPr>
          <p:nvPr>
            <p:ph type="title"/>
          </p:nvPr>
        </p:nvSpPr>
        <p:spPr>
          <a:xfrm>
            <a:off x="0" y="0"/>
            <a:ext cx="7143440" cy="886467"/>
          </a:xfrm>
        </p:spPr>
        <p:txBody>
          <a:bodyPr wrap="square" anchor="ctr">
            <a:normAutofit/>
          </a:bodyPr>
          <a:lstStyle/>
          <a:p>
            <a:pPr>
              <a:lnSpc>
                <a:spcPct val="90000"/>
              </a:lnSpc>
            </a:pPr>
            <a:r>
              <a:rPr lang="en-US" sz="2800" b="1" dirty="0">
                <a:latin typeface="Times New Roman" panose="02020603050405020304" pitchFamily="18" charset="0"/>
                <a:cs typeface="Times New Roman" panose="02020603050405020304" pitchFamily="18" charset="0"/>
              </a:rPr>
              <a:t>Hardware Equipment/Software Tools Used </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226C8AA-FC91-261A-B3C4-E67FC5B97D7E}"/>
              </a:ext>
            </a:extLst>
          </p:cNvPr>
          <p:cNvSpPr txBox="1"/>
          <p:nvPr/>
        </p:nvSpPr>
        <p:spPr>
          <a:xfrm>
            <a:off x="252634" y="780873"/>
            <a:ext cx="9833062" cy="5339923"/>
          </a:xfrm>
          <a:prstGeom prst="rect">
            <a:avLst/>
          </a:prstGeom>
          <a:noFill/>
        </p:spPr>
        <p:txBody>
          <a:bodyPr wrap="square" rtlCol="0">
            <a:spAutoFit/>
          </a:bodyPr>
          <a:lstStyle/>
          <a:p>
            <a:pPr>
              <a:spcAft>
                <a:spcPts val="600"/>
              </a:spcAft>
            </a:pPr>
            <a:r>
              <a:rPr lang="en-US" sz="2400" dirty="0">
                <a:latin typeface="Times New Roman" panose="02020603050405020304" pitchFamily="18" charset="0"/>
                <a:cs typeface="Times New Roman" panose="02020603050405020304" pitchFamily="18" charset="0"/>
              </a:rPr>
              <a:t>The complete implementation of the project was performed using open-source VLSI tools and the SKY130 process design kit.</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u="sng" dirty="0">
                <a:latin typeface="Times New Roman" panose="02020603050405020304" pitchFamily="18" charset="0"/>
                <a:cs typeface="Times New Roman" panose="02020603050405020304" pitchFamily="18" charset="0"/>
              </a:rPr>
              <a:t>1. Verilog HDL:</a:t>
            </a:r>
            <a:br>
              <a:rPr lang="en-US" sz="2400" u="sng"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Used for RTL design of the ALU architectures.</a:t>
            </a:r>
            <a:br>
              <a:rPr lang="en-US" sz="2400" dirty="0">
                <a:latin typeface="Times New Roman" panose="02020603050405020304" pitchFamily="18" charset="0"/>
                <a:cs typeface="Times New Roman" panose="02020603050405020304" pitchFamily="18" charset="0"/>
              </a:rPr>
            </a:br>
            <a:r>
              <a:rPr lang="en-US" sz="2400" u="sng" dirty="0">
                <a:latin typeface="Times New Roman" panose="02020603050405020304" pitchFamily="18" charset="0"/>
                <a:cs typeface="Times New Roman" panose="02020603050405020304" pitchFamily="18" charset="0"/>
              </a:rPr>
              <a:t>2. </a:t>
            </a:r>
            <a:r>
              <a:rPr lang="en-US" sz="2400" u="sng" dirty="0" err="1">
                <a:latin typeface="Times New Roman" panose="02020603050405020304" pitchFamily="18" charset="0"/>
                <a:cs typeface="Times New Roman" panose="02020603050405020304" pitchFamily="18" charset="0"/>
              </a:rPr>
              <a:t>Yosys</a:t>
            </a:r>
            <a:r>
              <a:rPr lang="en-US" sz="2400" u="sng" dirty="0">
                <a:latin typeface="Times New Roman" panose="02020603050405020304" pitchFamily="18" charset="0"/>
                <a:cs typeface="Times New Roman" panose="02020603050405020304" pitchFamily="18" charset="0"/>
              </a:rPr>
              <a:t>:</a:t>
            </a:r>
            <a:br>
              <a:rPr lang="en-US" sz="2400" u="sng"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Used for logic synthesis and technology mapping using SKY130 standard cells.</a:t>
            </a:r>
          </a:p>
          <a:p>
            <a:pPr>
              <a:spcAft>
                <a:spcPts val="600"/>
              </a:spcAft>
            </a:pPr>
            <a:r>
              <a:rPr lang="en-US" sz="2400" u="sng" dirty="0">
                <a:latin typeface="Times New Roman" panose="02020603050405020304" pitchFamily="18" charset="0"/>
                <a:cs typeface="Times New Roman" panose="02020603050405020304" pitchFamily="18" charset="0"/>
              </a:rPr>
              <a:t>3. </a:t>
            </a:r>
            <a:r>
              <a:rPr lang="en-US" sz="2400" u="sng" dirty="0" err="1">
                <a:latin typeface="Times New Roman" panose="02020603050405020304" pitchFamily="18" charset="0"/>
                <a:cs typeface="Times New Roman" panose="02020603050405020304" pitchFamily="18" charset="0"/>
              </a:rPr>
              <a:t>GTKWave</a:t>
            </a:r>
            <a:r>
              <a:rPr lang="en-US" sz="2400" u="sng" dirty="0">
                <a:latin typeface="Times New Roman" panose="02020603050405020304" pitchFamily="18" charset="0"/>
                <a:cs typeface="Times New Roman" panose="02020603050405020304" pitchFamily="18" charset="0"/>
              </a:rPr>
              <a:t>:</a:t>
            </a:r>
            <a:br>
              <a:rPr lang="en-US" sz="2400" u="sng"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Used for waveform visualization and verification.</a:t>
            </a:r>
            <a:br>
              <a:rPr lang="en-US" sz="2400" dirty="0">
                <a:latin typeface="Times New Roman" panose="02020603050405020304" pitchFamily="18" charset="0"/>
                <a:cs typeface="Times New Roman" panose="02020603050405020304" pitchFamily="18" charset="0"/>
              </a:rPr>
            </a:br>
            <a:r>
              <a:rPr lang="en-US" sz="2400" u="sng" dirty="0">
                <a:latin typeface="Times New Roman" panose="02020603050405020304" pitchFamily="18" charset="0"/>
                <a:cs typeface="Times New Roman" panose="02020603050405020304" pitchFamily="18" charset="0"/>
              </a:rPr>
              <a:t>4. SKY130 PDK</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Used as the standard cell technology library for synthesis and implementation.</a:t>
            </a:r>
            <a:br>
              <a:rPr lang="en-US" sz="2400" dirty="0">
                <a:latin typeface="Times New Roman" panose="02020603050405020304" pitchFamily="18" charset="0"/>
                <a:cs typeface="Times New Roman" panose="02020603050405020304" pitchFamily="18" charset="0"/>
              </a:rPr>
            </a:br>
            <a:r>
              <a:rPr lang="en-US" sz="2400" u="sng" dirty="0">
                <a:latin typeface="Times New Roman" panose="02020603050405020304" pitchFamily="18" charset="0"/>
                <a:cs typeface="Times New Roman" panose="02020603050405020304" pitchFamily="18" charset="0"/>
              </a:rPr>
              <a:t>5. Ubuntu Linux</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Used as the development environment for executing the complete design flow.</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6327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6B5F5-B64A-CEB2-3F9E-C75785DBE6B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CD57DB2-E3BE-E7BD-3B38-43E7E1D51A72}"/>
              </a:ext>
            </a:extLst>
          </p:cNvPr>
          <p:cNvSpPr>
            <a:spLocks noGrp="1"/>
          </p:cNvSpPr>
          <p:nvPr>
            <p:ph type="title"/>
          </p:nvPr>
        </p:nvSpPr>
        <p:spPr>
          <a:xfrm>
            <a:off x="0" y="0"/>
            <a:ext cx="4211598" cy="899199"/>
          </a:xfrm>
        </p:spPr>
        <p:txBody>
          <a:bodyPr wrap="square" anchor="ctr">
            <a:noAutofit/>
          </a:bodyPr>
          <a:lstStyle/>
          <a:p>
            <a:pPr>
              <a:lnSpc>
                <a:spcPct val="90000"/>
              </a:lnSpc>
            </a:pPr>
            <a:r>
              <a:rPr lang="en-US" sz="2800" b="1" dirty="0">
                <a:latin typeface="Times New Roman" panose="02020603050405020304" pitchFamily="18" charset="0"/>
                <a:cs typeface="Times New Roman" panose="02020603050405020304" pitchFamily="18" charset="0"/>
              </a:rPr>
              <a:t>CMOS Power Dissipation</a:t>
            </a:r>
            <a:br>
              <a:rPr lang="en-IN" sz="2800" b="1" dirty="0">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680A34F-0DA2-9221-9495-D8304C5C0E3C}"/>
              </a:ext>
            </a:extLst>
          </p:cNvPr>
          <p:cNvSpPr txBox="1"/>
          <p:nvPr/>
        </p:nvSpPr>
        <p:spPr>
          <a:xfrm>
            <a:off x="0" y="576033"/>
            <a:ext cx="9075761"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CMOS power dissipation consists of dynamic power and static leakage power. Dynamic power is caused by charging and discharging capacitances during switching activity.</a:t>
            </a:r>
          </a:p>
        </p:txBody>
      </p:sp>
      <p:sp>
        <p:nvSpPr>
          <p:cNvPr id="5" name="Rectangle: Rounded Corners 4">
            <a:extLst>
              <a:ext uri="{FF2B5EF4-FFF2-40B4-BE49-F238E27FC236}">
                <a16:creationId xmlns:a16="http://schemas.microsoft.com/office/drawing/2014/main" id="{F92E590B-92E0-28D9-D0E5-6F8AC94EFE02}"/>
              </a:ext>
            </a:extLst>
          </p:cNvPr>
          <p:cNvSpPr/>
          <p:nvPr/>
        </p:nvSpPr>
        <p:spPr>
          <a:xfrm>
            <a:off x="2292825" y="2183641"/>
            <a:ext cx="2912222" cy="156774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800" dirty="0">
                <a:latin typeface="Times New Roman" panose="02020603050405020304" pitchFamily="18" charset="0"/>
                <a:cs typeface="Times New Roman" panose="02020603050405020304" pitchFamily="18" charset="0"/>
              </a:rPr>
              <a:t>P = αCV²f</a:t>
            </a:r>
            <a:endParaRPr lang="en-IN" sz="4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A19A1DB-2D8D-6D29-9E90-88D9FC6BABE9}"/>
              </a:ext>
            </a:extLst>
          </p:cNvPr>
          <p:cNvSpPr txBox="1"/>
          <p:nvPr/>
        </p:nvSpPr>
        <p:spPr>
          <a:xfrm>
            <a:off x="6588368" y="2120168"/>
            <a:ext cx="2597186" cy="1631216"/>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Where: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α = switching activity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 = load capacitance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V = supply voltage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f = operating frequency</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52EC2DB-B597-FA63-CC2A-A7390F0B1887}"/>
              </a:ext>
            </a:extLst>
          </p:cNvPr>
          <p:cNvSpPr txBox="1"/>
          <p:nvPr/>
        </p:nvSpPr>
        <p:spPr>
          <a:xfrm>
            <a:off x="0" y="4343329"/>
            <a:ext cx="2816797" cy="1323439"/>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Dynamic power includes: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1. Internal Power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2. Switching Power</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5809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8E75F-7D95-576A-E057-CA10048FDD3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0D10954-FE18-B7D4-7CBE-A11168FA85A7}"/>
              </a:ext>
            </a:extLst>
          </p:cNvPr>
          <p:cNvSpPr>
            <a:spLocks noGrp="1"/>
          </p:cNvSpPr>
          <p:nvPr>
            <p:ph type="title"/>
          </p:nvPr>
        </p:nvSpPr>
        <p:spPr>
          <a:xfrm>
            <a:off x="0" y="0"/>
            <a:ext cx="4851790" cy="455839"/>
          </a:xfrm>
        </p:spPr>
        <p:txBody>
          <a:bodyPr wrap="square" anchor="ctr">
            <a:normAutofit fontScale="90000"/>
          </a:bodyPr>
          <a:lstStyle/>
          <a:p>
            <a:pPr>
              <a:lnSpc>
                <a:spcPct val="90000"/>
              </a:lnSpc>
            </a:pPr>
            <a:r>
              <a:rPr lang="en-US" sz="2800" b="1" dirty="0">
                <a:latin typeface="Times New Roman" panose="02020603050405020304" pitchFamily="18" charset="0"/>
                <a:cs typeface="Times New Roman" panose="02020603050405020304" pitchFamily="18" charset="0"/>
              </a:rPr>
              <a:t>Baseline 16-bit ALU Architecture</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CC10B19-2B7D-B116-8267-770D80D83F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968" y="752474"/>
            <a:ext cx="4873139" cy="2973160"/>
          </a:xfrm>
          <a:prstGeom prst="rect">
            <a:avLst/>
          </a:prstGeom>
        </p:spPr>
      </p:pic>
      <p:pic>
        <p:nvPicPr>
          <p:cNvPr id="7" name="Picture 6">
            <a:extLst>
              <a:ext uri="{FF2B5EF4-FFF2-40B4-BE49-F238E27FC236}">
                <a16:creationId xmlns:a16="http://schemas.microsoft.com/office/drawing/2014/main" id="{5EC8B797-3D5C-E6CF-1529-2FB4A811A3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2485" y="752474"/>
            <a:ext cx="5803656" cy="2973160"/>
          </a:xfrm>
          <a:prstGeom prst="rect">
            <a:avLst/>
          </a:prstGeom>
        </p:spPr>
      </p:pic>
      <p:pic>
        <p:nvPicPr>
          <p:cNvPr id="9" name="Picture 8">
            <a:extLst>
              <a:ext uri="{FF2B5EF4-FFF2-40B4-BE49-F238E27FC236}">
                <a16:creationId xmlns:a16="http://schemas.microsoft.com/office/drawing/2014/main" id="{BFA5185F-80A0-C176-EA2D-B8AECBC264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772" y="3573235"/>
            <a:ext cx="12192000" cy="3284765"/>
          </a:xfrm>
          <a:prstGeom prst="rect">
            <a:avLst/>
          </a:prstGeom>
        </p:spPr>
      </p:pic>
    </p:spTree>
    <p:extLst>
      <p:ext uri="{BB962C8B-B14F-4D97-AF65-F5344CB8AC3E}">
        <p14:creationId xmlns:p14="http://schemas.microsoft.com/office/powerpoint/2010/main" val="3018037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CA463-5E11-8BA1-1449-9806A12DA404}"/>
              </a:ext>
            </a:extLst>
          </p:cNvPr>
          <p:cNvSpPr>
            <a:spLocks noGrp="1"/>
          </p:cNvSpPr>
          <p:nvPr>
            <p:ph type="title"/>
          </p:nvPr>
        </p:nvSpPr>
        <p:spPr>
          <a:xfrm>
            <a:off x="0" y="0"/>
            <a:ext cx="5181600" cy="574431"/>
          </a:xfrm>
        </p:spPr>
        <p:txBody>
          <a:bodyPr>
            <a:normAutofit/>
          </a:bodyPr>
          <a:lstStyle/>
          <a:p>
            <a:r>
              <a:rPr lang="en-US" sz="2500" b="1" dirty="0">
                <a:latin typeface="Times New Roman" panose="02020603050405020304" pitchFamily="18" charset="0"/>
                <a:cs typeface="Times New Roman" panose="02020603050405020304" pitchFamily="18" charset="0"/>
              </a:rPr>
              <a:t>Integrated Clock Gating Cell (ICG)</a:t>
            </a:r>
            <a:endParaRPr lang="en-IN" sz="25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1A87361-5F7E-61C5-424E-BB88720DE9AF}"/>
              </a:ext>
            </a:extLst>
          </p:cNvPr>
          <p:cNvPicPr>
            <a:picLocks noChangeAspect="1"/>
          </p:cNvPicPr>
          <p:nvPr/>
        </p:nvPicPr>
        <p:blipFill>
          <a:blip r:embed="rId3"/>
          <a:stretch>
            <a:fillRect/>
          </a:stretch>
        </p:blipFill>
        <p:spPr>
          <a:xfrm>
            <a:off x="5716100" y="2020857"/>
            <a:ext cx="5632572" cy="2816286"/>
          </a:xfrm>
          <a:prstGeom prst="rect">
            <a:avLst/>
          </a:prstGeom>
        </p:spPr>
      </p:pic>
      <p:sp>
        <p:nvSpPr>
          <p:cNvPr id="7" name="Rectangle: Rounded Corners 6">
            <a:extLst>
              <a:ext uri="{FF2B5EF4-FFF2-40B4-BE49-F238E27FC236}">
                <a16:creationId xmlns:a16="http://schemas.microsoft.com/office/drawing/2014/main" id="{172420C1-F04A-82CC-8190-4AC284AF5BD0}"/>
              </a:ext>
            </a:extLst>
          </p:cNvPr>
          <p:cNvSpPr/>
          <p:nvPr/>
        </p:nvSpPr>
        <p:spPr>
          <a:xfrm>
            <a:off x="457200" y="1207477"/>
            <a:ext cx="4865077" cy="4349261"/>
          </a:xfrm>
          <a:prstGeom prst="roundRect">
            <a:avLst/>
          </a:prstGeom>
          <a:solidFill>
            <a:srgbClr val="FFC000"/>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IN" dirty="0">
                <a:latin typeface="Times New Roman" panose="02020603050405020304" pitchFamily="18" charset="0"/>
                <a:cs typeface="Times New Roman" panose="02020603050405020304" pitchFamily="18" charset="0"/>
              </a:rPr>
              <a:t>module </a:t>
            </a:r>
            <a:r>
              <a:rPr lang="en-IN" dirty="0" err="1">
                <a:latin typeface="Times New Roman" panose="02020603050405020304" pitchFamily="18" charset="0"/>
                <a:cs typeface="Times New Roman" panose="02020603050405020304" pitchFamily="18" charset="0"/>
              </a:rPr>
              <a:t>icg_cell</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input CLK,</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input EN,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output CLK_GATED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reg </a:t>
            </a:r>
            <a:r>
              <a:rPr lang="en-IN" dirty="0" err="1">
                <a:latin typeface="Times New Roman" panose="02020603050405020304" pitchFamily="18" charset="0"/>
                <a:cs typeface="Times New Roman" panose="02020603050405020304" pitchFamily="18" charset="0"/>
              </a:rPr>
              <a:t>en_latch</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always @(CLK or EN)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begin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if(!CLK)</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en_latch</a:t>
            </a:r>
            <a:r>
              <a:rPr lang="en-IN" dirty="0">
                <a:latin typeface="Times New Roman" panose="02020603050405020304" pitchFamily="18" charset="0"/>
                <a:cs typeface="Times New Roman" panose="02020603050405020304" pitchFamily="18" charset="0"/>
              </a:rPr>
              <a:t> &lt;= EN;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end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assign CLK_GATED = CLK &amp; </a:t>
            </a:r>
            <a:r>
              <a:rPr lang="en-IN" dirty="0" err="1">
                <a:latin typeface="Times New Roman" panose="02020603050405020304" pitchFamily="18" charset="0"/>
                <a:cs typeface="Times New Roman" panose="02020603050405020304" pitchFamily="18" charset="0"/>
              </a:rPr>
              <a:t>en_latch</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endmodule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4397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18C2-8E10-E5AC-E788-CC6D5415474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A1ABB94-AF10-11C5-809D-3865981E67CB}"/>
              </a:ext>
            </a:extLst>
          </p:cNvPr>
          <p:cNvSpPr>
            <a:spLocks noGrp="1"/>
          </p:cNvSpPr>
          <p:nvPr>
            <p:ph type="title"/>
          </p:nvPr>
        </p:nvSpPr>
        <p:spPr>
          <a:xfrm>
            <a:off x="0" y="-1"/>
            <a:ext cx="4724400" cy="726831"/>
          </a:xfrm>
        </p:spPr>
        <p:txBody>
          <a:bodyPr wrap="square" anchor="ctr">
            <a:noAutofit/>
          </a:bodyPr>
          <a:lstStyle/>
          <a:p>
            <a:pPr>
              <a:spcAft>
                <a:spcPts val="600"/>
              </a:spcAft>
            </a:pPr>
            <a:r>
              <a:rPr lang="en-US" sz="2800" b="1" dirty="0">
                <a:latin typeface="Times New Roman" panose="02020603050405020304" pitchFamily="18" charset="0"/>
                <a:cs typeface="Times New Roman" panose="02020603050405020304" pitchFamily="18" charset="0"/>
              </a:rPr>
              <a:t>ICG 16 bit ALU architecture </a:t>
            </a:r>
            <a:endParaRPr lang="en-IN"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BABBFD2-B687-386A-7324-2018CF78CC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184" y="553183"/>
            <a:ext cx="5657093" cy="3049465"/>
          </a:xfrm>
          <a:prstGeom prst="rect">
            <a:avLst/>
          </a:prstGeom>
        </p:spPr>
      </p:pic>
      <p:pic>
        <p:nvPicPr>
          <p:cNvPr id="6" name="Picture 5">
            <a:extLst>
              <a:ext uri="{FF2B5EF4-FFF2-40B4-BE49-F238E27FC236}">
                <a16:creationId xmlns:a16="http://schemas.microsoft.com/office/drawing/2014/main" id="{5205B5B7-7ECF-B0DF-A289-86E1241327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8724" y="553183"/>
            <a:ext cx="5445490" cy="3049465"/>
          </a:xfrm>
          <a:prstGeom prst="rect">
            <a:avLst/>
          </a:prstGeom>
        </p:spPr>
      </p:pic>
      <p:pic>
        <p:nvPicPr>
          <p:cNvPr id="12" name="Picture 11">
            <a:extLst>
              <a:ext uri="{FF2B5EF4-FFF2-40B4-BE49-F238E27FC236}">
                <a16:creationId xmlns:a16="http://schemas.microsoft.com/office/drawing/2014/main" id="{AC496006-2920-2169-92C6-641B0B4E33D7}"/>
              </a:ext>
            </a:extLst>
          </p:cNvPr>
          <p:cNvPicPr>
            <a:picLocks noChangeAspect="1"/>
          </p:cNvPicPr>
          <p:nvPr/>
        </p:nvPicPr>
        <p:blipFill>
          <a:blip r:embed="rId5"/>
          <a:stretch>
            <a:fillRect/>
          </a:stretch>
        </p:blipFill>
        <p:spPr>
          <a:xfrm>
            <a:off x="0" y="3602648"/>
            <a:ext cx="12192000" cy="3426802"/>
          </a:xfrm>
          <a:prstGeom prst="rect">
            <a:avLst/>
          </a:prstGeom>
        </p:spPr>
      </p:pic>
    </p:spTree>
    <p:extLst>
      <p:ext uri="{BB962C8B-B14F-4D97-AF65-F5344CB8AC3E}">
        <p14:creationId xmlns:p14="http://schemas.microsoft.com/office/powerpoint/2010/main" val="2078458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310FD-863E-A6F6-70E5-AD1C1739AB1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AD8A66C-B503-1DFF-0D04-77525FFB7382}"/>
              </a:ext>
            </a:extLst>
          </p:cNvPr>
          <p:cNvSpPr>
            <a:spLocks noGrp="1"/>
          </p:cNvSpPr>
          <p:nvPr>
            <p:ph type="title"/>
          </p:nvPr>
        </p:nvSpPr>
        <p:spPr>
          <a:xfrm>
            <a:off x="0" y="0"/>
            <a:ext cx="3630993" cy="561200"/>
          </a:xfrm>
        </p:spPr>
        <p:txBody>
          <a:bodyPr>
            <a:noAutofit/>
          </a:bodyPr>
          <a:lstStyle/>
          <a:p>
            <a:pPr>
              <a:spcAft>
                <a:spcPts val="600"/>
              </a:spcAft>
            </a:pPr>
            <a:r>
              <a:rPr lang="en-US" sz="2800" b="1" dirty="0">
                <a:latin typeface="Times New Roman" panose="02020603050405020304" pitchFamily="18" charset="0"/>
                <a:cs typeface="Times New Roman" panose="02020603050405020304" pitchFamily="18" charset="0"/>
              </a:rPr>
              <a:t>Two-Stage Pipelining</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001BC99-32FC-A6DB-07D2-E8F7D6B5C41C}"/>
              </a:ext>
            </a:extLst>
          </p:cNvPr>
          <p:cNvSpPr txBox="1"/>
          <p:nvPr/>
        </p:nvSpPr>
        <p:spPr>
          <a:xfrm>
            <a:off x="580292" y="1813954"/>
            <a:ext cx="4191000" cy="2862322"/>
          </a:xfrm>
          <a:prstGeom prst="rect">
            <a:avLst/>
          </a:prstGeom>
          <a:noFill/>
        </p:spPr>
        <p:txBody>
          <a:bodyPr wrap="square">
            <a:spAutoFit/>
          </a:bodyPr>
          <a:lstStyle/>
          <a:p>
            <a:r>
              <a:rPr lang="en-US" sz="2000" dirty="0">
                <a:effectLst/>
                <a:latin typeface="Times New Roman" panose="02020603050405020304" pitchFamily="18" charset="0"/>
                <a:ea typeface="Times New Roman" panose="02020603050405020304" pitchFamily="18" charset="0"/>
                <a:cs typeface="SimSun" panose="02010600030101010101" pitchFamily="2" charset="-122"/>
              </a:rPr>
              <a:t>Stage 1: Decode Stage</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 Opcode decoding</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 Operand preparation</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 Control generation</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Stage 2: Execute Stage</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 Arithmetic and logical computation</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 Result generation</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 Flag generation</a:t>
            </a:r>
            <a:endParaRPr lang="en-IN" sz="2000" dirty="0"/>
          </a:p>
        </p:txBody>
      </p:sp>
      <p:sp>
        <p:nvSpPr>
          <p:cNvPr id="7" name="Rectangle 6">
            <a:extLst>
              <a:ext uri="{FF2B5EF4-FFF2-40B4-BE49-F238E27FC236}">
                <a16:creationId xmlns:a16="http://schemas.microsoft.com/office/drawing/2014/main" id="{84E76566-293B-A563-5BED-ED6AD05BB5FB}"/>
              </a:ext>
            </a:extLst>
          </p:cNvPr>
          <p:cNvSpPr/>
          <p:nvPr/>
        </p:nvSpPr>
        <p:spPr>
          <a:xfrm>
            <a:off x="5871412" y="1493112"/>
            <a:ext cx="4615252" cy="3560151"/>
          </a:xfrm>
          <a:prstGeom prst="rect">
            <a:avLst/>
          </a:prstGeom>
          <a:solidFill>
            <a:srgbClr val="FFC000"/>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dirty="0">
                <a:solidFill>
                  <a:schemeClr val="tx1"/>
                </a:solidFill>
                <a:latin typeface="Times New Roman" panose="02020603050405020304" pitchFamily="18" charset="0"/>
                <a:cs typeface="Times New Roman" panose="02020603050405020304" pitchFamily="18" charset="0"/>
              </a:rPr>
              <a:t>//stage 1 (decode)</a:t>
            </a:r>
          </a:p>
          <a:p>
            <a:r>
              <a:rPr lang="en-US" sz="2000" dirty="0">
                <a:solidFill>
                  <a:schemeClr val="tx1"/>
                </a:solidFill>
                <a:latin typeface="Times New Roman" panose="02020603050405020304" pitchFamily="18" charset="0"/>
                <a:cs typeface="Times New Roman" panose="02020603050405020304" pitchFamily="18" charset="0"/>
              </a:rPr>
              <a:t>reg [15:0] A_s1, B_s1;</a:t>
            </a:r>
          </a:p>
          <a:p>
            <a:r>
              <a:rPr lang="en-US" sz="2000" dirty="0">
                <a:solidFill>
                  <a:schemeClr val="tx1"/>
                </a:solidFill>
                <a:latin typeface="Times New Roman" panose="02020603050405020304" pitchFamily="18" charset="0"/>
                <a:cs typeface="Times New Roman" panose="02020603050405020304" pitchFamily="18" charset="0"/>
              </a:rPr>
              <a:t>reg [3:0] SEL_s1;</a:t>
            </a:r>
          </a:p>
          <a:p>
            <a:r>
              <a:rPr lang="en-US" sz="2000" dirty="0">
                <a:solidFill>
                  <a:schemeClr val="tx1"/>
                </a:solidFill>
                <a:latin typeface="Times New Roman" panose="02020603050405020304" pitchFamily="18" charset="0"/>
                <a:cs typeface="Times New Roman" panose="02020603050405020304" pitchFamily="18" charset="0"/>
              </a:rPr>
              <a:t>reg cin_s1;</a:t>
            </a:r>
          </a:p>
          <a:p>
            <a:endParaRPr lang="en-US" sz="2000" dirty="0">
              <a:solidFill>
                <a:schemeClr val="tx1"/>
              </a:solidFill>
              <a:latin typeface="Times New Roman" panose="02020603050405020304" pitchFamily="18" charset="0"/>
              <a:cs typeface="Times New Roman" panose="02020603050405020304" pitchFamily="18" charset="0"/>
            </a:endParaRP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//stage 2 (execute)</a:t>
            </a:r>
          </a:p>
          <a:p>
            <a:r>
              <a:rPr lang="en-US" sz="2000" dirty="0">
                <a:solidFill>
                  <a:schemeClr val="tx1"/>
                </a:solidFill>
                <a:latin typeface="Times New Roman" panose="02020603050405020304" pitchFamily="18" charset="0"/>
                <a:cs typeface="Times New Roman" panose="02020603050405020304" pitchFamily="18" charset="0"/>
              </a:rPr>
              <a:t>reg [15:0] </a:t>
            </a:r>
            <a:r>
              <a:rPr lang="en-US" sz="2000" dirty="0" err="1">
                <a:solidFill>
                  <a:schemeClr val="tx1"/>
                </a:solidFill>
                <a:latin typeface="Times New Roman" panose="02020603050405020304" pitchFamily="18" charset="0"/>
                <a:cs typeface="Times New Roman" panose="02020603050405020304" pitchFamily="18" charset="0"/>
              </a:rPr>
              <a:t>arith_r</a:t>
            </a:r>
            <a:r>
              <a:rPr lang="en-US" sz="2000" dirty="0">
                <a:solidFill>
                  <a:schemeClr val="tx1"/>
                </a:solidFill>
                <a:latin typeface="Times New Roman" panose="02020603050405020304" pitchFamily="18" charset="0"/>
                <a:cs typeface="Times New Roman" panose="02020603050405020304" pitchFamily="18" charset="0"/>
              </a:rPr>
              <a:t>;</a:t>
            </a:r>
          </a:p>
          <a:p>
            <a:r>
              <a:rPr lang="en-US" sz="2000" dirty="0">
                <a:solidFill>
                  <a:schemeClr val="tx1"/>
                </a:solidFill>
                <a:latin typeface="Times New Roman" panose="02020603050405020304" pitchFamily="18" charset="0"/>
                <a:cs typeface="Times New Roman" panose="02020603050405020304" pitchFamily="18" charset="0"/>
              </a:rPr>
              <a:t>reg </a:t>
            </a:r>
            <a:r>
              <a:rPr lang="en-US" sz="2000" dirty="0" err="1">
                <a:solidFill>
                  <a:schemeClr val="tx1"/>
                </a:solidFill>
                <a:latin typeface="Times New Roman" panose="02020603050405020304" pitchFamily="18" charset="0"/>
                <a:cs typeface="Times New Roman" panose="02020603050405020304" pitchFamily="18" charset="0"/>
              </a:rPr>
              <a:t>a_carry</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a_ovf</a:t>
            </a:r>
            <a:r>
              <a:rPr lang="en-US" sz="2000" dirty="0">
                <a:solidFill>
                  <a:schemeClr val="tx1"/>
                </a:solidFill>
                <a:latin typeface="Times New Roman" panose="02020603050405020304" pitchFamily="18" charset="0"/>
                <a:cs typeface="Times New Roman" panose="02020603050405020304" pitchFamily="18" charset="0"/>
              </a:rPr>
              <a:t>;</a:t>
            </a:r>
          </a:p>
          <a:p>
            <a:r>
              <a:rPr lang="en-US" sz="2000" dirty="0">
                <a:solidFill>
                  <a:schemeClr val="tx1"/>
                </a:solidFill>
                <a:latin typeface="Times New Roman" panose="02020603050405020304" pitchFamily="18" charset="0"/>
                <a:cs typeface="Times New Roman" panose="02020603050405020304" pitchFamily="18" charset="0"/>
              </a:rPr>
              <a:t>reg [15:0] </a:t>
            </a:r>
            <a:r>
              <a:rPr lang="en-US" sz="2000" dirty="0" err="1">
                <a:solidFill>
                  <a:schemeClr val="tx1"/>
                </a:solidFill>
                <a:latin typeface="Times New Roman" panose="02020603050405020304" pitchFamily="18" charset="0"/>
                <a:cs typeface="Times New Roman" panose="02020603050405020304" pitchFamily="18" charset="0"/>
              </a:rPr>
              <a:t>logic_r</a:t>
            </a:r>
            <a:r>
              <a:rPr lang="en-US" sz="2000" dirty="0">
                <a:solidFill>
                  <a:schemeClr val="tx1"/>
                </a:solidFill>
                <a:latin typeface="Times New Roman" panose="02020603050405020304" pitchFamily="18" charset="0"/>
                <a:cs typeface="Times New Roman" panose="02020603050405020304" pitchFamily="18" charset="0"/>
              </a:rPr>
              <a:t>;  </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7842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001BC-B12E-B645-3CCC-56A2451236DD}"/>
              </a:ext>
            </a:extLst>
          </p:cNvPr>
          <p:cNvSpPr>
            <a:spLocks noGrp="1"/>
          </p:cNvSpPr>
          <p:nvPr>
            <p:ph type="title"/>
          </p:nvPr>
        </p:nvSpPr>
        <p:spPr>
          <a:xfrm>
            <a:off x="0" y="0"/>
            <a:ext cx="6255910" cy="670326"/>
          </a:xfrm>
        </p:spPr>
        <p:txBody>
          <a:bodyPr>
            <a:normAutofit/>
          </a:bodyPr>
          <a:lstStyle/>
          <a:p>
            <a:pPr algn="ctr"/>
            <a:r>
              <a:rPr lang="en-US" sz="2800" b="1" dirty="0">
                <a:latin typeface="Times New Roman" panose="02020603050405020304" pitchFamily="18" charset="0"/>
                <a:cs typeface="Times New Roman" panose="02020603050405020304" pitchFamily="18" charset="0"/>
              </a:rPr>
              <a:t>ICG and Pipelining 16 bit architecture </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6AE8A2D-1BB9-2696-C28B-24687722D6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048" y="670326"/>
            <a:ext cx="6258738" cy="2705100"/>
          </a:xfrm>
          <a:prstGeom prst="rect">
            <a:avLst/>
          </a:prstGeom>
        </p:spPr>
      </p:pic>
      <p:pic>
        <p:nvPicPr>
          <p:cNvPr id="7" name="Picture 6">
            <a:extLst>
              <a:ext uri="{FF2B5EF4-FFF2-40B4-BE49-F238E27FC236}">
                <a16:creationId xmlns:a16="http://schemas.microsoft.com/office/drawing/2014/main" id="{C60C8DA0-CDD8-50D7-9D8E-5F1825279F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1404" y="670326"/>
            <a:ext cx="4933950" cy="2705100"/>
          </a:xfrm>
          <a:prstGeom prst="rect">
            <a:avLst/>
          </a:prstGeom>
        </p:spPr>
      </p:pic>
      <p:pic>
        <p:nvPicPr>
          <p:cNvPr id="9" name="Picture 8">
            <a:extLst>
              <a:ext uri="{FF2B5EF4-FFF2-40B4-BE49-F238E27FC236}">
                <a16:creationId xmlns:a16="http://schemas.microsoft.com/office/drawing/2014/main" id="{4B170032-8737-2861-56B6-3600111436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048" y="3375427"/>
            <a:ext cx="11547306" cy="3009332"/>
          </a:xfrm>
          <a:prstGeom prst="rect">
            <a:avLst/>
          </a:prstGeom>
        </p:spPr>
      </p:pic>
    </p:spTree>
    <p:extLst>
      <p:ext uri="{BB962C8B-B14F-4D97-AF65-F5344CB8AC3E}">
        <p14:creationId xmlns:p14="http://schemas.microsoft.com/office/powerpoint/2010/main" val="873710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0562F-F43A-5A41-4F2D-62875507C98B}"/>
              </a:ext>
            </a:extLst>
          </p:cNvPr>
          <p:cNvSpPr>
            <a:spLocks noGrp="1"/>
          </p:cNvSpPr>
          <p:nvPr>
            <p:ph type="title"/>
          </p:nvPr>
        </p:nvSpPr>
        <p:spPr>
          <a:xfrm>
            <a:off x="8060419" y="1133247"/>
            <a:ext cx="2600316" cy="886053"/>
          </a:xfrm>
        </p:spPr>
        <p:txBody>
          <a:bodyPr>
            <a:normAutofit/>
          </a:bodyPr>
          <a:lstStyle/>
          <a:p>
            <a:r>
              <a:rPr lang="en-US" sz="2800" dirty="0" err="1">
                <a:latin typeface="Times New Roman" panose="02020603050405020304" pitchFamily="18" charset="0"/>
                <a:cs typeface="Times New Roman" panose="02020603050405020304" pitchFamily="18" charset="0"/>
              </a:rPr>
              <a:t>yosys</a:t>
            </a:r>
            <a:r>
              <a:rPr lang="en-US" sz="2800" dirty="0">
                <a:latin typeface="Times New Roman" panose="02020603050405020304" pitchFamily="18" charset="0"/>
                <a:cs typeface="Times New Roman" panose="02020603050405020304" pitchFamily="18" charset="0"/>
              </a:rPr>
              <a:t> script</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1C37501-5B2C-5B28-EAE3-0470FB68F4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7052" y="2010881"/>
            <a:ext cx="3067050" cy="4229100"/>
          </a:xfrm>
          <a:prstGeom prst="rect">
            <a:avLst/>
          </a:prstGeom>
        </p:spPr>
      </p:pic>
      <p:sp>
        <p:nvSpPr>
          <p:cNvPr id="6" name="TextBox 5">
            <a:extLst>
              <a:ext uri="{FF2B5EF4-FFF2-40B4-BE49-F238E27FC236}">
                <a16:creationId xmlns:a16="http://schemas.microsoft.com/office/drawing/2014/main" id="{A4B3C668-8EB6-31A6-7C61-A35B465DB9E4}"/>
              </a:ext>
            </a:extLst>
          </p:cNvPr>
          <p:cNvSpPr txBox="1"/>
          <p:nvPr/>
        </p:nvSpPr>
        <p:spPr>
          <a:xfrm>
            <a:off x="1588152" y="1056774"/>
            <a:ext cx="5086859" cy="954107"/>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Generated netlist of ICG and clock gating architecture </a:t>
            </a:r>
            <a:endParaRPr lang="en-IN" sz="2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ABFAD31-2A3E-DAC3-EAEE-B621101BDE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7898" y="2010881"/>
            <a:ext cx="5086859" cy="4253591"/>
          </a:xfrm>
          <a:prstGeom prst="rect">
            <a:avLst/>
          </a:prstGeom>
        </p:spPr>
      </p:pic>
    </p:spTree>
    <p:extLst>
      <p:ext uri="{BB962C8B-B14F-4D97-AF65-F5344CB8AC3E}">
        <p14:creationId xmlns:p14="http://schemas.microsoft.com/office/powerpoint/2010/main" val="2075150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59F5D-5510-864C-BAC2-71228CF73D67}"/>
              </a:ext>
            </a:extLst>
          </p:cNvPr>
          <p:cNvSpPr>
            <a:spLocks noGrp="1"/>
          </p:cNvSpPr>
          <p:nvPr>
            <p:ph type="title"/>
          </p:nvPr>
        </p:nvSpPr>
        <p:spPr>
          <a:xfrm>
            <a:off x="0" y="0"/>
            <a:ext cx="8584021" cy="821884"/>
          </a:xfrm>
        </p:spPr>
        <p:txBody>
          <a:bodyPr>
            <a:normAutofit/>
          </a:bodyPr>
          <a:lstStyle/>
          <a:p>
            <a:r>
              <a:rPr lang="en-US" sz="3200" dirty="0">
                <a:latin typeface="Times New Roman" panose="02020603050405020304" pitchFamily="18" charset="0"/>
                <a:cs typeface="Times New Roman" panose="02020603050405020304" pitchFamily="18" charset="0"/>
              </a:rPr>
              <a:t>Comparative power analysis of ALU architecture </a:t>
            </a:r>
            <a:endParaRPr lang="en-IN" sz="32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7676DF24-702E-CE8E-BB91-33D49308F997}"/>
              </a:ext>
            </a:extLst>
          </p:cNvPr>
          <p:cNvGraphicFramePr>
            <a:graphicFrameLocks noGrp="1"/>
          </p:cNvGraphicFramePr>
          <p:nvPr>
            <p:extLst>
              <p:ext uri="{D42A27DB-BD31-4B8C-83A1-F6EECF244321}">
                <p14:modId xmlns:p14="http://schemas.microsoft.com/office/powerpoint/2010/main" val="1613683363"/>
              </p:ext>
            </p:extLst>
          </p:nvPr>
        </p:nvGraphicFramePr>
        <p:xfrm>
          <a:off x="279748" y="903732"/>
          <a:ext cx="5816252" cy="5144874"/>
        </p:xfrm>
        <a:graphic>
          <a:graphicData uri="http://schemas.openxmlformats.org/drawingml/2006/table">
            <a:tbl>
              <a:tblPr/>
              <a:tblGrid>
                <a:gridCol w="969247">
                  <a:extLst>
                    <a:ext uri="{9D8B030D-6E8A-4147-A177-3AD203B41FA5}">
                      <a16:colId xmlns:a16="http://schemas.microsoft.com/office/drawing/2014/main" val="1636486825"/>
                    </a:ext>
                  </a:extLst>
                </a:gridCol>
                <a:gridCol w="969247">
                  <a:extLst>
                    <a:ext uri="{9D8B030D-6E8A-4147-A177-3AD203B41FA5}">
                      <a16:colId xmlns:a16="http://schemas.microsoft.com/office/drawing/2014/main" val="3166311121"/>
                    </a:ext>
                  </a:extLst>
                </a:gridCol>
                <a:gridCol w="969247">
                  <a:extLst>
                    <a:ext uri="{9D8B030D-6E8A-4147-A177-3AD203B41FA5}">
                      <a16:colId xmlns:a16="http://schemas.microsoft.com/office/drawing/2014/main" val="3268510863"/>
                    </a:ext>
                  </a:extLst>
                </a:gridCol>
                <a:gridCol w="969247">
                  <a:extLst>
                    <a:ext uri="{9D8B030D-6E8A-4147-A177-3AD203B41FA5}">
                      <a16:colId xmlns:a16="http://schemas.microsoft.com/office/drawing/2014/main" val="1022856961"/>
                    </a:ext>
                  </a:extLst>
                </a:gridCol>
                <a:gridCol w="1939264">
                  <a:extLst>
                    <a:ext uri="{9D8B030D-6E8A-4147-A177-3AD203B41FA5}">
                      <a16:colId xmlns:a16="http://schemas.microsoft.com/office/drawing/2014/main" val="175191121"/>
                    </a:ext>
                  </a:extLst>
                </a:gridCol>
              </a:tblGrid>
              <a:tr h="472813">
                <a:tc>
                  <a:txBody>
                    <a:bodyPr/>
                    <a:lstStyle/>
                    <a:p>
                      <a:pPr>
                        <a:buNone/>
                      </a:pPr>
                      <a:r>
                        <a:rPr lang="en-IN" sz="1200">
                          <a:latin typeface="Times New Roman" panose="02020603050405020304" pitchFamily="18" charset="0"/>
                          <a:cs typeface="Times New Roman" panose="02020603050405020304" pitchFamily="18" charset="0"/>
                        </a:rPr>
                        <a:t>Power Metric</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Baseline ALU (No Clock Gating / No Pipelining)</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ALU with Clock Gating Only</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ALU with Clock Gating + Pipelining</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Observation</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9976169"/>
                  </a:ext>
                </a:extLst>
              </a:tr>
              <a:tr h="1044049">
                <a:tc>
                  <a:txBody>
                    <a:bodyPr/>
                    <a:lstStyle/>
                    <a:p>
                      <a:pPr>
                        <a:buNone/>
                      </a:pPr>
                      <a:r>
                        <a:rPr lang="en-IN" sz="1200" b="1" dirty="0">
                          <a:latin typeface="Times New Roman" panose="02020603050405020304" pitchFamily="18" charset="0"/>
                          <a:cs typeface="Times New Roman" panose="02020603050405020304" pitchFamily="18" charset="0"/>
                        </a:rPr>
                        <a:t>Internal Power</a:t>
                      </a:r>
                      <a:endParaRPr lang="en-IN" sz="1200" dirty="0">
                        <a:latin typeface="Times New Roman" panose="02020603050405020304" pitchFamily="18" charset="0"/>
                        <a:cs typeface="Times New Roman" panose="02020603050405020304" pitchFamily="18" charset="0"/>
                      </a:endParaRP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3.43 × 10⁻⁴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3.07 × 10⁻⁴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6.94 × 10⁻⁴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Reduced with clock gating, increased significantly with pipelining due to additional registers and clock activity</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715380"/>
                  </a:ext>
                </a:extLst>
              </a:tr>
              <a:tr h="901241">
                <a:tc>
                  <a:txBody>
                    <a:bodyPr/>
                    <a:lstStyle/>
                    <a:p>
                      <a:pPr>
                        <a:buNone/>
                      </a:pPr>
                      <a:r>
                        <a:rPr lang="en-IN" sz="1200" b="1" dirty="0">
                          <a:latin typeface="Times New Roman" panose="02020603050405020304" pitchFamily="18" charset="0"/>
                          <a:cs typeface="Times New Roman" panose="02020603050405020304" pitchFamily="18" charset="0"/>
                        </a:rPr>
                        <a:t>Switching Power</a:t>
                      </a:r>
                      <a:endParaRPr lang="en-IN" sz="1200" dirty="0">
                        <a:latin typeface="Times New Roman" panose="02020603050405020304" pitchFamily="18" charset="0"/>
                        <a:cs typeface="Times New Roman" panose="02020603050405020304" pitchFamily="18" charset="0"/>
                      </a:endParaRP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2.10 × 10⁻⁴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2.13 × 10⁻⁴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3.20 × 10⁻⁴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latin typeface="Times New Roman" panose="02020603050405020304" pitchFamily="18" charset="0"/>
                          <a:cs typeface="Times New Roman" panose="02020603050405020304" pitchFamily="18" charset="0"/>
                        </a:rPr>
                        <a:t>Nearly same for clock gating, increased in pipelining because of higher switching transitions</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5801667"/>
                  </a:ext>
                </a:extLst>
              </a:tr>
              <a:tr h="615623">
                <a:tc>
                  <a:txBody>
                    <a:bodyPr/>
                    <a:lstStyle/>
                    <a:p>
                      <a:pPr>
                        <a:buNone/>
                      </a:pPr>
                      <a:r>
                        <a:rPr lang="en-IN" sz="1200" b="1">
                          <a:latin typeface="Times New Roman" panose="02020603050405020304" pitchFamily="18" charset="0"/>
                          <a:cs typeface="Times New Roman" panose="02020603050405020304" pitchFamily="18" charset="0"/>
                        </a:rPr>
                        <a:t>Leakage Power</a:t>
                      </a:r>
                      <a:endParaRPr lang="en-IN" sz="1200">
                        <a:latin typeface="Times New Roman" panose="02020603050405020304" pitchFamily="18" charset="0"/>
                        <a:cs typeface="Times New Roman" panose="02020603050405020304" pitchFamily="18" charset="0"/>
                      </a:endParaRP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3.21 × 10⁻⁹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3.39 × 10⁻⁹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4.38 × 10⁻⁹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Slight increase due to additional cells and sequential elements</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8734568"/>
                  </a:ext>
                </a:extLst>
              </a:tr>
              <a:tr h="758431">
                <a:tc>
                  <a:txBody>
                    <a:bodyPr/>
                    <a:lstStyle/>
                    <a:p>
                      <a:pPr>
                        <a:buNone/>
                      </a:pPr>
                      <a:r>
                        <a:rPr lang="en-IN" sz="1200" b="1">
                          <a:latin typeface="Times New Roman" panose="02020603050405020304" pitchFamily="18" charset="0"/>
                          <a:cs typeface="Times New Roman" panose="02020603050405020304" pitchFamily="18" charset="0"/>
                        </a:rPr>
                        <a:t>Dynamic Power</a:t>
                      </a:r>
                      <a:r>
                        <a:rPr lang="en-IN" sz="1200">
                          <a:latin typeface="Times New Roman" panose="02020603050405020304" pitchFamily="18" charset="0"/>
                          <a:cs typeface="Times New Roman" panose="02020603050405020304" pitchFamily="18" charset="0"/>
                        </a:rPr>
                        <a:t> (Internal + Switching)</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5.53 × 10⁻⁴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5.20 × 10⁻⁴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1.014 × 10⁻³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latin typeface="Times New Roman" panose="02020603050405020304" pitchFamily="18" charset="0"/>
                          <a:cs typeface="Times New Roman" panose="02020603050405020304" pitchFamily="18" charset="0"/>
                        </a:rPr>
                        <a:t>Clock gating reduced dynamic power; pipelining increased dynamic power</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3258015"/>
                  </a:ext>
                </a:extLst>
              </a:tr>
              <a:tr h="472813">
                <a:tc>
                  <a:txBody>
                    <a:bodyPr/>
                    <a:lstStyle/>
                    <a:p>
                      <a:pPr>
                        <a:buNone/>
                      </a:pPr>
                      <a:r>
                        <a:rPr lang="en-IN" sz="1200" b="1">
                          <a:latin typeface="Times New Roman" panose="02020603050405020304" pitchFamily="18" charset="0"/>
                          <a:cs typeface="Times New Roman" panose="02020603050405020304" pitchFamily="18" charset="0"/>
                        </a:rPr>
                        <a:t>Total Power</a:t>
                      </a:r>
                      <a:endParaRPr lang="en-IN" sz="1200">
                        <a:latin typeface="Times New Roman" panose="02020603050405020304" pitchFamily="18" charset="0"/>
                        <a:cs typeface="Times New Roman" panose="02020603050405020304" pitchFamily="18" charset="0"/>
                      </a:endParaRP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5.53 × 10⁻⁴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5.20 × 10⁻⁴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1.01 × 10⁻³ W</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latin typeface="Times New Roman" panose="02020603050405020304" pitchFamily="18" charset="0"/>
                          <a:cs typeface="Times New Roman" panose="02020603050405020304" pitchFamily="18" charset="0"/>
                        </a:rPr>
                        <a:t>Lowest power achieved using only clock gating</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4465870"/>
                  </a:ext>
                </a:extLst>
              </a:tr>
              <a:tr h="452727">
                <a:tc>
                  <a:txBody>
                    <a:bodyPr/>
                    <a:lstStyle/>
                    <a:p>
                      <a:pPr>
                        <a:buNone/>
                      </a:pPr>
                      <a:r>
                        <a:rPr lang="en-IN" sz="1200" b="1">
                          <a:latin typeface="Times New Roman" panose="02020603050405020304" pitchFamily="18" charset="0"/>
                          <a:cs typeface="Times New Roman" panose="02020603050405020304" pitchFamily="18" charset="0"/>
                        </a:rPr>
                        <a:t>Relative Power (%)</a:t>
                      </a:r>
                      <a:endParaRPr lang="en-IN" sz="1200">
                        <a:latin typeface="Times New Roman" panose="02020603050405020304" pitchFamily="18" charset="0"/>
                        <a:cs typeface="Times New Roman" panose="02020603050405020304" pitchFamily="18" charset="0"/>
                      </a:endParaRP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100% (Reference)</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Times New Roman" panose="02020603050405020304" pitchFamily="18" charset="0"/>
                          <a:cs typeface="Times New Roman" panose="02020603050405020304" pitchFamily="18" charset="0"/>
                        </a:rPr>
                        <a:t>~94% of baseline</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latin typeface="Times New Roman" panose="02020603050405020304" pitchFamily="18" charset="0"/>
                          <a:cs typeface="Times New Roman" panose="02020603050405020304" pitchFamily="18" charset="0"/>
                        </a:rPr>
                        <a:t>~182% of baseline</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latin typeface="Times New Roman" panose="02020603050405020304" pitchFamily="18" charset="0"/>
                          <a:cs typeface="Times New Roman" panose="02020603050405020304" pitchFamily="18" charset="0"/>
                        </a:rPr>
                        <a:t>Pipeline register overhead increased total power significantly</a:t>
                      </a:r>
                    </a:p>
                  </a:txBody>
                  <a:tcPr marL="33157" marR="33157" marT="16578" marB="165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4885207"/>
                  </a:ext>
                </a:extLst>
              </a:tr>
            </a:tbl>
          </a:graphicData>
        </a:graphic>
      </p:graphicFrame>
      <p:graphicFrame>
        <p:nvGraphicFramePr>
          <p:cNvPr id="18" name="Table 17">
            <a:extLst>
              <a:ext uri="{FF2B5EF4-FFF2-40B4-BE49-F238E27FC236}">
                <a16:creationId xmlns:a16="http://schemas.microsoft.com/office/drawing/2014/main" id="{0BC840DC-B953-EA2E-DDDA-87D0335D6C60}"/>
              </a:ext>
            </a:extLst>
          </p:cNvPr>
          <p:cNvGraphicFramePr>
            <a:graphicFrameLocks noGrp="1"/>
          </p:cNvGraphicFramePr>
          <p:nvPr>
            <p:extLst>
              <p:ext uri="{D42A27DB-BD31-4B8C-83A1-F6EECF244321}">
                <p14:modId xmlns:p14="http://schemas.microsoft.com/office/powerpoint/2010/main" val="1538050880"/>
              </p:ext>
            </p:extLst>
          </p:nvPr>
        </p:nvGraphicFramePr>
        <p:xfrm>
          <a:off x="6300591" y="1827120"/>
          <a:ext cx="5386194" cy="2970348"/>
        </p:xfrm>
        <a:graphic>
          <a:graphicData uri="http://schemas.openxmlformats.org/drawingml/2006/table">
            <a:tbl>
              <a:tblPr/>
              <a:tblGrid>
                <a:gridCol w="2693097">
                  <a:extLst>
                    <a:ext uri="{9D8B030D-6E8A-4147-A177-3AD203B41FA5}">
                      <a16:colId xmlns:a16="http://schemas.microsoft.com/office/drawing/2014/main" val="24870677"/>
                    </a:ext>
                  </a:extLst>
                </a:gridCol>
                <a:gridCol w="2693097">
                  <a:extLst>
                    <a:ext uri="{9D8B030D-6E8A-4147-A177-3AD203B41FA5}">
                      <a16:colId xmlns:a16="http://schemas.microsoft.com/office/drawing/2014/main" val="2597129235"/>
                    </a:ext>
                  </a:extLst>
                </a:gridCol>
              </a:tblGrid>
              <a:tr h="627058">
                <a:tc>
                  <a:txBody>
                    <a:bodyPr/>
                    <a:lstStyle/>
                    <a:p>
                      <a:pPr>
                        <a:buNone/>
                      </a:pPr>
                      <a:r>
                        <a:rPr lang="en-IN">
                          <a:latin typeface="Times New Roman" panose="02020603050405020304" pitchFamily="18" charset="0"/>
                          <a:cs typeface="Times New Roman" panose="02020603050405020304" pitchFamily="18" charset="0"/>
                        </a:rPr>
                        <a:t>Comparison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Times New Roman" panose="02020603050405020304" pitchFamily="18" charset="0"/>
                          <a:cs typeface="Times New Roman" panose="02020603050405020304" pitchFamily="18" charset="0"/>
                        </a:rPr>
                        <a:t>Power Change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1633829"/>
                  </a:ext>
                </a:extLst>
              </a:tr>
              <a:tr h="627058">
                <a:tc>
                  <a:txBody>
                    <a:bodyPr/>
                    <a:lstStyle/>
                    <a:p>
                      <a:pPr>
                        <a:buNone/>
                      </a:pPr>
                      <a:r>
                        <a:rPr lang="en-IN" dirty="0">
                          <a:latin typeface="Times New Roman" panose="02020603050405020304" pitchFamily="18" charset="0"/>
                          <a:cs typeface="Times New Roman" panose="02020603050405020304" pitchFamily="18" charset="0"/>
                        </a:rPr>
                        <a:t>Baseline → Clock Gating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~6% power reduction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6680392"/>
                  </a:ext>
                </a:extLst>
              </a:tr>
              <a:tr h="858116">
                <a:tc>
                  <a:txBody>
                    <a:bodyPr/>
                    <a:lstStyle/>
                    <a:p>
                      <a:pPr>
                        <a:buNone/>
                      </a:pPr>
                      <a:r>
                        <a:rPr lang="en-IN" dirty="0">
                          <a:latin typeface="Times New Roman" panose="02020603050405020304" pitchFamily="18" charset="0"/>
                          <a:cs typeface="Times New Roman" panose="02020603050405020304" pitchFamily="18" charset="0"/>
                        </a:rPr>
                        <a:t>Baseline → Clock Gating + Pipelining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~82% power increase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7906013"/>
                  </a:ext>
                </a:extLst>
              </a:tr>
              <a:tr h="858116">
                <a:tc>
                  <a:txBody>
                    <a:bodyPr/>
                    <a:lstStyle/>
                    <a:p>
                      <a:pPr>
                        <a:buNone/>
                      </a:pPr>
                      <a:r>
                        <a:rPr lang="en-IN">
                          <a:latin typeface="Times New Roman" panose="02020603050405020304" pitchFamily="18" charset="0"/>
                          <a:cs typeface="Times New Roman" panose="02020603050405020304" pitchFamily="18" charset="0"/>
                        </a:rPr>
                        <a:t>Clock Gating → Clock Gating + Pipelining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Times New Roman" panose="02020603050405020304" pitchFamily="18" charset="0"/>
                          <a:cs typeface="Times New Roman" panose="02020603050405020304" pitchFamily="18" charset="0"/>
                        </a:rPr>
                        <a:t>~94% power increase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8961678"/>
                  </a:ext>
                </a:extLst>
              </a:tr>
            </a:tbl>
          </a:graphicData>
        </a:graphic>
      </p:graphicFrame>
    </p:spTree>
    <p:extLst>
      <p:ext uri="{BB962C8B-B14F-4D97-AF65-F5344CB8AC3E}">
        <p14:creationId xmlns:p14="http://schemas.microsoft.com/office/powerpoint/2010/main" val="3314591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C9764EC-6A38-9B08-CB6A-EC7FC6FEFE8F}"/>
              </a:ext>
            </a:extLst>
          </p:cNvPr>
          <p:cNvSpPr txBox="1"/>
          <p:nvPr/>
        </p:nvSpPr>
        <p:spPr>
          <a:xfrm>
            <a:off x="2987458" y="3360200"/>
            <a:ext cx="6225434" cy="369332"/>
          </a:xfrm>
          <a:prstGeom prst="rect">
            <a:avLst/>
          </a:prstGeom>
          <a:noFill/>
        </p:spPr>
        <p:txBody>
          <a:bodyPr wrap="square">
            <a:spAutoFit/>
          </a:bodyPr>
          <a:lstStyle/>
          <a:p>
            <a:endParaRPr lang="en-IN" dirty="0"/>
          </a:p>
        </p:txBody>
      </p:sp>
      <p:pic>
        <p:nvPicPr>
          <p:cNvPr id="10" name="Picture 9">
            <a:extLst>
              <a:ext uri="{FF2B5EF4-FFF2-40B4-BE49-F238E27FC236}">
                <a16:creationId xmlns:a16="http://schemas.microsoft.com/office/drawing/2014/main" id="{60DBB991-DB11-6A7E-B324-E957C1FD66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392" y="1443527"/>
            <a:ext cx="7315215" cy="4572009"/>
          </a:xfrm>
          <a:prstGeom prst="rect">
            <a:avLst/>
          </a:prstGeom>
        </p:spPr>
      </p:pic>
      <p:sp>
        <p:nvSpPr>
          <p:cNvPr id="11" name="TextBox 10">
            <a:extLst>
              <a:ext uri="{FF2B5EF4-FFF2-40B4-BE49-F238E27FC236}">
                <a16:creationId xmlns:a16="http://schemas.microsoft.com/office/drawing/2014/main" id="{F4678BBC-8962-3C1A-3CE6-96BE36C6D8EB}"/>
              </a:ext>
            </a:extLst>
          </p:cNvPr>
          <p:cNvSpPr txBox="1"/>
          <p:nvPr/>
        </p:nvSpPr>
        <p:spPr>
          <a:xfrm>
            <a:off x="426720" y="213360"/>
            <a:ext cx="1301959"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Results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7487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C8D8A-7533-DC85-C831-204EAB312630}"/>
              </a:ext>
            </a:extLst>
          </p:cNvPr>
          <p:cNvSpPr>
            <a:spLocks noGrp="1"/>
          </p:cNvSpPr>
          <p:nvPr>
            <p:ph type="title"/>
          </p:nvPr>
        </p:nvSpPr>
        <p:spPr>
          <a:xfrm>
            <a:off x="0" y="0"/>
            <a:ext cx="2708600" cy="805040"/>
          </a:xfrm>
        </p:spPr>
        <p:txBody>
          <a:bodyPr>
            <a:normAutofit/>
          </a:bodyPr>
          <a:lstStyle/>
          <a:p>
            <a:r>
              <a:rPr lang="en-US" sz="2800" b="1" dirty="0">
                <a:latin typeface="Times New Roman" panose="02020603050405020304" pitchFamily="18" charset="0"/>
                <a:cs typeface="Times New Roman" panose="02020603050405020304" pitchFamily="18" charset="0"/>
              </a:rPr>
              <a:t>Applications </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715F5A6-018F-1C61-1EDB-240B6CF73E04}"/>
              </a:ext>
            </a:extLst>
          </p:cNvPr>
          <p:cNvSpPr txBox="1"/>
          <p:nvPr/>
        </p:nvSpPr>
        <p:spPr>
          <a:xfrm>
            <a:off x="259080" y="805040"/>
            <a:ext cx="6217920" cy="3170099"/>
          </a:xfrm>
          <a:prstGeom prst="rect">
            <a:avLst/>
          </a:prstGeom>
          <a:noFill/>
        </p:spPr>
        <p:txBody>
          <a:bodyPr wrap="square">
            <a:spAutoFit/>
          </a:bodyPr>
          <a:lstStyle/>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Microprocessors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Embedded systems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Low-power portable devices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Smartphones and tablets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IoT devices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Wearable electronics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Digital Signal Processing (DSP) systems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AI and edge computing hardware</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FPGA-based systems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System-on-Chip (SoC) designs</a:t>
            </a:r>
          </a:p>
        </p:txBody>
      </p:sp>
    </p:spTree>
    <p:extLst>
      <p:ext uri="{BB962C8B-B14F-4D97-AF65-F5344CB8AC3E}">
        <p14:creationId xmlns:p14="http://schemas.microsoft.com/office/powerpoint/2010/main" val="2498908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8516D01-5791-D6F3-1402-6F2630C98AAE}"/>
              </a:ext>
            </a:extLst>
          </p:cNvPr>
          <p:cNvSpPr txBox="1"/>
          <p:nvPr/>
        </p:nvSpPr>
        <p:spPr>
          <a:xfrm>
            <a:off x="320040" y="365760"/>
            <a:ext cx="8884920" cy="4865947"/>
          </a:xfrm>
          <a:prstGeom prst="rect">
            <a:avLst/>
          </a:prstGeom>
          <a:noFill/>
        </p:spPr>
        <p:txBody>
          <a:bodyPr wrap="square">
            <a:spAutoFit/>
          </a:bodyPr>
          <a:lstStyle/>
          <a:p>
            <a:pPr>
              <a:lnSpc>
                <a:spcPct val="115000"/>
              </a:lnSpc>
              <a:spcBef>
                <a:spcPts val="2400"/>
              </a:spcBef>
              <a:buNone/>
            </a:pPr>
            <a:r>
              <a:rPr lang="en-US" sz="2800" b="1" kern="0" dirty="0">
                <a:effectLst/>
                <a:latin typeface="Times New Roman" panose="02020603050405020304" pitchFamily="18" charset="0"/>
                <a:ea typeface="MS Gothic" panose="020B0609070205080204" pitchFamily="49" charset="-128"/>
                <a:cs typeface="Times New Roman" panose="02020603050405020304" pitchFamily="18" charset="0"/>
              </a:rPr>
              <a:t>Future Scope</a:t>
            </a:r>
            <a:endParaRPr lang="en-IN" sz="2800" b="1" kern="0" dirty="0">
              <a:effectLst/>
              <a:latin typeface="Times New Roman" panose="02020603050405020304" pitchFamily="18" charset="0"/>
              <a:ea typeface="MS Gothic" panose="020B0609070205080204" pitchFamily="49" charset="-128"/>
              <a:cs typeface="Times New Roman" panose="02020603050405020304" pitchFamily="18" charset="0"/>
            </a:endParaRPr>
          </a:p>
          <a:p>
            <a:pPr>
              <a:buNone/>
            </a:pPr>
            <a:br>
              <a:rPr lang="en-US" sz="18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Future improvements may include:</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1. Multi-stage advanced pipelining</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2. Operand isolation techniques</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3. Fine-grain clock gating</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4. Dynamic voltage and frequency scaling</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5. Multi-Vt optimization</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6. Glitch power reduction</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7. Physical clock tree optimization</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8. FPGA implementation and hardware validation</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9. Advanced low-power synthesis techniques</a:t>
            </a:r>
            <a:br>
              <a:rPr lang="en-US" sz="2000" dirty="0">
                <a:effectLst/>
                <a:latin typeface="Times New Roman" panose="02020603050405020304" pitchFamily="18" charset="0"/>
                <a:ea typeface="Times New Roman" panose="02020603050405020304" pitchFamily="18" charset="0"/>
                <a:cs typeface="SimSun" panose="02010600030101010101" pitchFamily="2" charset="-122"/>
              </a:rPr>
            </a:b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10. ASIC </a:t>
            </a:r>
            <a:r>
              <a:rPr lang="en-US" sz="2000" dirty="0" err="1">
                <a:effectLst/>
                <a:latin typeface="Times New Roman" panose="02020603050405020304" pitchFamily="18" charset="0"/>
                <a:ea typeface="Times New Roman" panose="02020603050405020304" pitchFamily="18" charset="0"/>
                <a:cs typeface="SimSun" panose="02010600030101010101" pitchFamily="2" charset="-122"/>
              </a:rPr>
              <a:t>tapeout</a:t>
            </a:r>
            <a:r>
              <a:rPr lang="en-US" sz="2000" dirty="0">
                <a:effectLst/>
                <a:latin typeface="Times New Roman" panose="02020603050405020304" pitchFamily="18" charset="0"/>
                <a:ea typeface="Times New Roman" panose="02020603050405020304" pitchFamily="18" charset="0"/>
                <a:cs typeface="SimSun" panose="02010600030101010101" pitchFamily="2" charset="-122"/>
              </a:rPr>
              <a:t> implementation</a:t>
            </a:r>
          </a:p>
          <a:p>
            <a:pPr>
              <a:buNone/>
            </a:pPr>
            <a:r>
              <a:rPr lang="en-US" sz="2000" dirty="0">
                <a:latin typeface="Times New Roman" panose="02020603050405020304" pitchFamily="18" charset="0"/>
              </a:rPr>
              <a:t>11.Full RTL to GDSII flow</a:t>
            </a:r>
            <a:endParaRPr lang="en-IN" sz="2000" dirty="0"/>
          </a:p>
        </p:txBody>
      </p:sp>
    </p:spTree>
    <p:extLst>
      <p:ext uri="{BB962C8B-B14F-4D97-AF65-F5344CB8AC3E}">
        <p14:creationId xmlns:p14="http://schemas.microsoft.com/office/powerpoint/2010/main" val="350662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1849-84A7-2D5E-F407-CFF41ECDBF06}"/>
              </a:ext>
            </a:extLst>
          </p:cNvPr>
          <p:cNvSpPr>
            <a:spLocks noGrp="1"/>
          </p:cNvSpPr>
          <p:nvPr>
            <p:ph type="title"/>
          </p:nvPr>
        </p:nvSpPr>
        <p:spPr>
          <a:xfrm>
            <a:off x="0" y="0"/>
            <a:ext cx="2754320" cy="561200"/>
          </a:xfrm>
        </p:spPr>
        <p:txBody>
          <a:bodyPr>
            <a:noAutofit/>
          </a:bodyPr>
          <a:lstStyle/>
          <a:p>
            <a:r>
              <a:rPr lang="en-US" sz="3200" dirty="0">
                <a:latin typeface="Times New Roman" panose="02020603050405020304" pitchFamily="18" charset="0"/>
                <a:cs typeface="Times New Roman" panose="02020603050405020304" pitchFamily="18" charset="0"/>
              </a:rPr>
              <a:t>References </a:t>
            </a:r>
            <a:endParaRPr lang="en-IN"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3347E29-59E9-5190-0908-2D349C2A3851}"/>
              </a:ext>
            </a:extLst>
          </p:cNvPr>
          <p:cNvSpPr txBox="1"/>
          <p:nvPr/>
        </p:nvSpPr>
        <p:spPr>
          <a:xfrm>
            <a:off x="396240" y="280601"/>
            <a:ext cx="9997440" cy="5940088"/>
          </a:xfrm>
          <a:prstGeom prst="rect">
            <a:avLst/>
          </a:prstGeom>
          <a:noFill/>
        </p:spPr>
        <p:txBody>
          <a:bodyPr wrap="square">
            <a:spAutoFit/>
          </a:bodyPr>
          <a:lstStyle/>
          <a:p>
            <a:pPr>
              <a:buNone/>
            </a:pPr>
            <a:endParaRPr lang="en-IN" sz="2000" b="1" dirty="0">
              <a:latin typeface="Times New Roman" panose="02020603050405020304" pitchFamily="18" charset="0"/>
              <a:cs typeface="Times New Roman" panose="02020603050405020304" pitchFamily="18" charset="0"/>
            </a:endParaRPr>
          </a:p>
          <a:p>
            <a:pPr>
              <a:buFont typeface="+mj-lt"/>
              <a:buAutoNum type="arabicPeriod"/>
            </a:pPr>
            <a:r>
              <a:rPr lang="en-IN" sz="2000" dirty="0">
                <a:latin typeface="Times New Roman" panose="02020603050405020304" pitchFamily="18" charset="0"/>
                <a:cs typeface="Times New Roman" panose="02020603050405020304" pitchFamily="18" charset="0"/>
                <a:hlinkClick r:id="rId2"/>
              </a:rPr>
              <a:t> </a:t>
            </a:r>
            <a:r>
              <a:rPr lang="en-IN" sz="2000" dirty="0" err="1">
                <a:latin typeface="Times New Roman" panose="02020603050405020304" pitchFamily="18" charset="0"/>
                <a:cs typeface="Times New Roman" panose="02020603050405020304" pitchFamily="18" charset="0"/>
                <a:hlinkClick r:id="rId2"/>
              </a:rPr>
              <a:t>Yosys</a:t>
            </a:r>
            <a:r>
              <a:rPr lang="en-IN" sz="2000" dirty="0">
                <a:latin typeface="Times New Roman" panose="02020603050405020304" pitchFamily="18" charset="0"/>
                <a:cs typeface="Times New Roman" panose="02020603050405020304" pitchFamily="18" charset="0"/>
                <a:hlinkClick r:id="rId2"/>
              </a:rPr>
              <a:t> Open </a:t>
            </a:r>
            <a:r>
              <a:rPr lang="en-IN" sz="2000" dirty="0" err="1">
                <a:latin typeface="Times New Roman" panose="02020603050405020304" pitchFamily="18" charset="0"/>
                <a:cs typeface="Times New Roman" panose="02020603050405020304" pitchFamily="18" charset="0"/>
                <a:hlinkClick r:id="rId2"/>
              </a:rPr>
              <a:t>SYnthesis</a:t>
            </a:r>
            <a:r>
              <a:rPr lang="en-IN" sz="2000" dirty="0">
                <a:latin typeface="Times New Roman" panose="02020603050405020304" pitchFamily="18" charset="0"/>
                <a:cs typeface="Times New Roman" panose="02020603050405020304" pitchFamily="18" charset="0"/>
                <a:hlinkClick r:id="rId2"/>
              </a:rPr>
              <a:t> Suite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Used for RTL synthesis and technology mapping of the Verilog ALU design.</a:t>
            </a:r>
          </a:p>
          <a:p>
            <a:pPr>
              <a:buFont typeface="+mj-lt"/>
              <a:buAutoNum type="arabicPeriod"/>
            </a:pPr>
            <a:r>
              <a:rPr lang="en-IN" sz="2000" dirty="0">
                <a:latin typeface="Times New Roman" panose="02020603050405020304" pitchFamily="18" charset="0"/>
                <a:cs typeface="Times New Roman" panose="02020603050405020304" pitchFamily="18" charset="0"/>
                <a:hlinkClick r:id="rId3"/>
              </a:rPr>
              <a:t> Google </a:t>
            </a:r>
            <a:r>
              <a:rPr lang="en-IN" sz="2000" dirty="0" err="1">
                <a:latin typeface="Times New Roman" panose="02020603050405020304" pitchFamily="18" charset="0"/>
                <a:cs typeface="Times New Roman" panose="02020603050405020304" pitchFamily="18" charset="0"/>
                <a:hlinkClick r:id="rId3"/>
              </a:rPr>
              <a:t>SkyWater</a:t>
            </a:r>
            <a:r>
              <a:rPr lang="en-IN" sz="2000" dirty="0">
                <a:latin typeface="Times New Roman" panose="02020603050405020304" pitchFamily="18" charset="0"/>
                <a:cs typeface="Times New Roman" panose="02020603050405020304" pitchFamily="18" charset="0"/>
                <a:hlinkClick r:id="rId3"/>
              </a:rPr>
              <a:t> SKY130 PDK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Used as the standard cell library and technology platform for synthesis and implementation.</a:t>
            </a:r>
          </a:p>
          <a:p>
            <a:pPr>
              <a:buFont typeface="+mj-lt"/>
              <a:buAutoNum type="arabicPeriod"/>
            </a:pPr>
            <a:r>
              <a:rPr lang="en-IN" sz="2000" dirty="0" err="1">
                <a:latin typeface="Times New Roman" panose="02020603050405020304" pitchFamily="18" charset="0"/>
                <a:cs typeface="Times New Roman" panose="02020603050405020304" pitchFamily="18" charset="0"/>
                <a:hlinkClick r:id="rId4"/>
              </a:rPr>
              <a:t>GTKWave</a:t>
            </a:r>
            <a:r>
              <a:rPr lang="en-IN" sz="2000" dirty="0">
                <a:latin typeface="Times New Roman" panose="02020603050405020304" pitchFamily="18" charset="0"/>
                <a:cs typeface="Times New Roman" panose="02020603050405020304" pitchFamily="18" charset="0"/>
                <a:hlinkClick r:id="rId4"/>
              </a:rPr>
              <a:t> Waveform Viewer</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Used for waveform visualization and functional verification.</a:t>
            </a:r>
          </a:p>
          <a:p>
            <a:pPr>
              <a:buFont typeface="+mj-lt"/>
              <a:buAutoNum type="arabicPeriod"/>
            </a:pPr>
            <a:r>
              <a:rPr lang="en-IN" sz="2000" dirty="0">
                <a:latin typeface="Times New Roman" panose="02020603050405020304" pitchFamily="18" charset="0"/>
                <a:cs typeface="Times New Roman" panose="02020603050405020304" pitchFamily="18" charset="0"/>
              </a:rPr>
              <a:t> Reference YouTube video/tutorial on Integrated Clock Gating (ICG) design and low-power VLSI techniques.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Used for understanding latch-based clock gating implementation and ICG requirements.</a:t>
            </a:r>
          </a:p>
          <a:p>
            <a:pPr>
              <a:buFont typeface="+mj-lt"/>
              <a:buAutoNum type="arabicPeriod"/>
            </a:pPr>
            <a:r>
              <a:rPr lang="en-IN" sz="2000" dirty="0">
                <a:latin typeface="Times New Roman" panose="02020603050405020304" pitchFamily="18" charset="0"/>
                <a:cs typeface="Times New Roman" panose="02020603050405020304" pitchFamily="18" charset="0"/>
              </a:rPr>
              <a:t> Neil H. E. Weste and David Harris, </a:t>
            </a:r>
            <a:r>
              <a:rPr lang="en-IN" sz="2000" i="1" dirty="0">
                <a:latin typeface="Times New Roman" panose="02020603050405020304" pitchFamily="18" charset="0"/>
                <a:cs typeface="Times New Roman" panose="02020603050405020304" pitchFamily="18" charset="0"/>
              </a:rPr>
              <a:t>CMOS VLSI Design: A Circuits and Systems Perspective</a:t>
            </a:r>
            <a:r>
              <a:rPr lang="en-IN" sz="2000" dirty="0">
                <a:latin typeface="Times New Roman" panose="02020603050405020304" pitchFamily="18" charset="0"/>
                <a:cs typeface="Times New Roman" panose="02020603050405020304" pitchFamily="18" charset="0"/>
              </a:rPr>
              <a:t>, Pearson Education.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Referred for CMOS power dissipation, clock gating concepts, and pipelining theory.</a:t>
            </a:r>
          </a:p>
          <a:p>
            <a:pPr>
              <a:buFont typeface="+mj-lt"/>
              <a:buAutoNum type="arabicPeriod"/>
            </a:pPr>
            <a:r>
              <a:rPr lang="en-IN" sz="2000" dirty="0">
                <a:latin typeface="Times New Roman" panose="02020603050405020304" pitchFamily="18" charset="0"/>
                <a:cs typeface="Times New Roman" panose="02020603050405020304" pitchFamily="18" charset="0"/>
              </a:rPr>
              <a:t> Jan M. </a:t>
            </a:r>
            <a:r>
              <a:rPr lang="en-IN" sz="2000" dirty="0" err="1">
                <a:latin typeface="Times New Roman" panose="02020603050405020304" pitchFamily="18" charset="0"/>
                <a:cs typeface="Times New Roman" panose="02020603050405020304" pitchFamily="18" charset="0"/>
              </a:rPr>
              <a:t>Rabaey</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Digital Integrated Circuits: A Design Perspective</a:t>
            </a:r>
            <a:r>
              <a:rPr lang="en-IN" sz="2000" dirty="0">
                <a:latin typeface="Times New Roman" panose="02020603050405020304" pitchFamily="18" charset="0"/>
                <a:cs typeface="Times New Roman" panose="02020603050405020304" pitchFamily="18" charset="0"/>
              </a:rPr>
              <a:t>, Prentice Hall.</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Referred for dynamic power analysis, switching activity, and low-power digital design concepts.</a:t>
            </a:r>
          </a:p>
          <a:p>
            <a:pPr>
              <a:buFont typeface="+mj-lt"/>
              <a:buAutoNum type="arabicPeriod"/>
            </a:pPr>
            <a:r>
              <a:rPr lang="en-IN" sz="2000" dirty="0">
                <a:latin typeface="Times New Roman" panose="02020603050405020304" pitchFamily="18" charset="0"/>
                <a:cs typeface="Times New Roman" panose="02020603050405020304" pitchFamily="18" charset="0"/>
              </a:rPr>
              <a:t> M. Morris Mano, </a:t>
            </a:r>
            <a:r>
              <a:rPr lang="en-IN" sz="2000" i="1" dirty="0">
                <a:latin typeface="Times New Roman" panose="02020603050405020304" pitchFamily="18" charset="0"/>
                <a:cs typeface="Times New Roman" panose="02020603050405020304" pitchFamily="18" charset="0"/>
              </a:rPr>
              <a:t>Digital Design</a:t>
            </a:r>
            <a:r>
              <a:rPr lang="en-IN" sz="2000" dirty="0">
                <a:latin typeface="Times New Roman" panose="02020603050405020304" pitchFamily="18" charset="0"/>
                <a:cs typeface="Times New Roman" panose="02020603050405020304" pitchFamily="18" charset="0"/>
              </a:rPr>
              <a:t>, Pearson Education.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Referred for ALU architecture, arithmetic operations, and digital logic fundamentals.</a:t>
            </a:r>
          </a:p>
          <a:p>
            <a:r>
              <a:rPr lang="en-IN" sz="2000" dirty="0">
                <a:latin typeface="Times New Roman" panose="02020603050405020304" pitchFamily="18" charset="0"/>
                <a:cs typeface="Times New Roman" panose="02020603050405020304" pitchFamily="18" charset="0"/>
              </a:rPr>
              <a:t>8. Verilog HDL documentation and online tutorials for RTL coding and testbench development.</a:t>
            </a:r>
          </a:p>
          <a:p>
            <a:r>
              <a:rPr lang="en-IN" sz="2000" dirty="0">
                <a:latin typeface="Times New Roman" panose="02020603050405020304" pitchFamily="18" charset="0"/>
                <a:cs typeface="Times New Roman" panose="02020603050405020304" pitchFamily="18" charset="0"/>
              </a:rPr>
              <a:t>9. Open-source VLSI community forums and documentation</a:t>
            </a:r>
          </a:p>
        </p:txBody>
      </p:sp>
    </p:spTree>
    <p:extLst>
      <p:ext uri="{BB962C8B-B14F-4D97-AF65-F5344CB8AC3E}">
        <p14:creationId xmlns:p14="http://schemas.microsoft.com/office/powerpoint/2010/main" val="2076439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282416-64DF-7622-7353-8FEC8BF34C5B}"/>
              </a:ext>
            </a:extLst>
          </p:cNvPr>
          <p:cNvSpPr>
            <a:spLocks noGrp="1"/>
          </p:cNvSpPr>
          <p:nvPr>
            <p:ph type="ctrTitle"/>
          </p:nvPr>
        </p:nvSpPr>
        <p:spPr>
          <a:xfrm>
            <a:off x="415611" y="992767"/>
            <a:ext cx="11360800" cy="2736800"/>
          </a:xfrm>
        </p:spPr>
        <p:txBody>
          <a:bodyPr spcFirstLastPara="1" wrap="square" lIns="91425" tIns="91425" rIns="91425" bIns="91425" anchor="b" anchorCtr="0">
            <a:normAutofit/>
          </a:bodyPr>
          <a:lstStyle/>
          <a:p>
            <a:r>
              <a:rPr lang="en-US" b="0" i="0" u="none" strike="noStrike" cap="none">
                <a:latin typeface="Arial"/>
                <a:ea typeface="Arial"/>
                <a:cs typeface="Arial"/>
                <a:sym typeface="Arial"/>
              </a:rPr>
              <a:t>THANK YOU</a:t>
            </a:r>
            <a:endParaRPr lang="en-IN" b="0" i="0" u="none" strike="noStrike" cap="none">
              <a:latin typeface="Arial"/>
              <a:ea typeface="Arial"/>
              <a:cs typeface="Arial"/>
              <a:sym typeface="Arial"/>
            </a:endParaRPr>
          </a:p>
        </p:txBody>
      </p:sp>
    </p:spTree>
    <p:extLst>
      <p:ext uri="{BB962C8B-B14F-4D97-AF65-F5344CB8AC3E}">
        <p14:creationId xmlns:p14="http://schemas.microsoft.com/office/powerpoint/2010/main" val="836841195"/>
      </p:ext>
    </p:extLst>
  </p:cSld>
  <p:clrMapOvr>
    <a:masterClrMapping/>
  </p:clrMapOvr>
</p:sld>
</file>

<file path=ppt/theme/theme1.xml><?xml version="1.0" encoding="utf-8"?>
<a:theme xmlns:a="http://schemas.openxmlformats.org/drawingml/2006/main" name="Theme 1 White">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F80CC7A9C01EE45A471894F4748AFF0" ma:contentTypeVersion="5" ma:contentTypeDescription="Create a new document." ma:contentTypeScope="" ma:versionID="6c0e5b962e435edc583eb8a5be1ce409">
  <xsd:schema xmlns:xsd="http://www.w3.org/2001/XMLSchema" xmlns:xs="http://www.w3.org/2001/XMLSchema" xmlns:p="http://schemas.microsoft.com/office/2006/metadata/properties" xmlns:ns3="2c60c3a7-b744-40d7-8488-7f1ba24b95d6" targetNamespace="http://schemas.microsoft.com/office/2006/metadata/properties" ma:root="true" ma:fieldsID="9beb2d4ad95c776fab247fdf9cd6a3bd" ns3:_="">
    <xsd:import namespace="2c60c3a7-b744-40d7-8488-7f1ba24b95d6"/>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60c3a7-b744-40d7-8488-7f1ba24b95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747082-224A-46FD-8503-CF8709610701}">
  <ds:schemaRefs>
    <ds:schemaRef ds:uri="http://www.w3.org/XML/1998/namespace"/>
    <ds:schemaRef ds:uri="http://purl.org/dc/terms/"/>
    <ds:schemaRef ds:uri="http://purl.org/dc/elements/1.1/"/>
    <ds:schemaRef ds:uri="http://schemas.openxmlformats.org/package/2006/metadata/core-properties"/>
    <ds:schemaRef ds:uri="http://schemas.microsoft.com/office/2006/documentManagement/types"/>
    <ds:schemaRef ds:uri="http://purl.org/dc/dcmitype/"/>
    <ds:schemaRef ds:uri="http://schemas.microsoft.com/office/2006/metadata/properties"/>
    <ds:schemaRef ds:uri="http://schemas.microsoft.com/office/infopath/2007/PartnerControls"/>
    <ds:schemaRef ds:uri="2c60c3a7-b744-40d7-8488-7f1ba24b95d6"/>
  </ds:schemaRefs>
</ds:datastoreItem>
</file>

<file path=customXml/itemProps2.xml><?xml version="1.0" encoding="utf-8"?>
<ds:datastoreItem xmlns:ds="http://schemas.openxmlformats.org/officeDocument/2006/customXml" ds:itemID="{13D1C5F4-19EA-4257-ACEE-CA79D61F30C6}">
  <ds:schemaRefs>
    <ds:schemaRef ds:uri="http://schemas.microsoft.com/sharepoint/v3/contenttype/forms"/>
  </ds:schemaRefs>
</ds:datastoreItem>
</file>

<file path=customXml/itemProps3.xml><?xml version="1.0" encoding="utf-8"?>
<ds:datastoreItem xmlns:ds="http://schemas.openxmlformats.org/officeDocument/2006/customXml" ds:itemID="{2EA0D9E0-779F-4A25-9931-20C2FF9C2C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c60c3a7-b744-40d7-8488-7f1ba24b95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1973</TotalTime>
  <Words>1975</Words>
  <Application>Microsoft Office PowerPoint</Application>
  <PresentationFormat>Widescreen</PresentationFormat>
  <Paragraphs>273</Paragraphs>
  <Slides>17</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Theme 1 White</vt:lpstr>
      <vt:lpstr>PowerPoint Presentation</vt:lpstr>
      <vt:lpstr>PowerPoint Presentation</vt:lpstr>
      <vt:lpstr>Block Diagram/Circuit Diagram</vt:lpstr>
      <vt:lpstr>Hardware Equipment/Software Tools Used </vt:lpstr>
      <vt:lpstr>CMOS Power Dissipation </vt:lpstr>
      <vt:lpstr>Baseline 16-bit ALU Architecture</vt:lpstr>
      <vt:lpstr>Integrated Clock Gating Cell (ICG)</vt:lpstr>
      <vt:lpstr>ICG 16 bit ALU architecture </vt:lpstr>
      <vt:lpstr>Two-Stage Pipelining</vt:lpstr>
      <vt:lpstr>ICG and Pipelining 16 bit architecture </vt:lpstr>
      <vt:lpstr>yosys script</vt:lpstr>
      <vt:lpstr>Comparative power analysis of ALU architecture </vt:lpstr>
      <vt:lpstr>PowerPoint Presentation</vt:lpstr>
      <vt:lpstr>Applications </vt:lpstr>
      <vt:lpstr>PowerPoint Presentation</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Sowmya Madhavan</dc:creator>
  <cp:lastModifiedBy>Harshitha A</cp:lastModifiedBy>
  <cp:revision>16</cp:revision>
  <dcterms:created xsi:type="dcterms:W3CDTF">2025-05-06T10:00:26Z</dcterms:created>
  <dcterms:modified xsi:type="dcterms:W3CDTF">2026-07-07T06:01:01Z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0x010100FF80CC7A9C01EE45A471894F4748AFF0</vt:lpwstr>
  </property>
</Properties>
</file>